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em xin trình bày đồ án Smart Alarm — ứng dụng báo thức thông minh trên Android, viết hoàn toàn bằng Java và XML, hoàn thành trong 8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thức mặc định thường thiếu tùy biến và không có thử thách để chắc chắn người dùng đã dậy. Nhóm đặt 4 mục tiêu: đủ chức năng, chuông reo tin cậy kể cả khi app bị kill, nhạc tùy biến và giao diện đẹp.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viết bằng Java và XML thuần trên Android Studio, không dùng thư viện bên thứ ba ngoài Material Components. Slide này chỉ nêu mỗi phần công nghệ phục vụ chức năng nào, phần cơ chế chi tiết sẽ nói ở slide luồng hoạt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có 4 tab qua Bottom Navigation. Điểm kỹ thuật đáng chú ý: các tab dùng show/hide fragment thay vì replace, nên Timer và Stopwatch không bị reset khi người dùng chuyển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Màn hình Alarm cho phép thêm, sửa, xóa và bật tắt báo thức bằng switch, danh sách hiển thị bằng RecyclerView. Banner Next Alarm phía trên tự tính báo thức gần nhất sắp reo và hiển thị giờ cùng nhãn.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báo thức chọn 1 trong 5 nhạc built-in, nghe thử ngay trong dialog, hoặc chọn file nhạc bất kỳ trên máy qua Storage Access Framework với persistable URI permission. Ngoài ra có random nhạc, âm lượng riêng, loop và rung theo từng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dùng chỉ cần chọn những ngày muốn reo, app tự lo phần còn lại: báo thức lặp tự lên lịch tiếp, báo thức một lần tự tắt. Về kỹ thuật, nhóm dùng exact alarm nên chuông vẫn reo đúng giờ khi máy tiết kiệm pin hoặc app đã bị đóng.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reo, app hiện full-screen notification đè cả màn hình khóa nhờ showWhenLocked và turnScreenOn, chặn nút Back — chỉ có thể Snooze 5 phút hoặc Dismiss. Ở chế độ Math Challenge, người dùng phải giải đúng phép cộng hai số mới tắt được chuông, sai thì ra đề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luồng hoạt động đầy đủ của một báo thức. Người dùng tạo alarm ở Fragment, lưu vào SQLite qua DAO, AlarmScheduler đăng ký với AlarmManager của hệ thống. Đến giờ, AlarmReceiver nhận broadcast, khởi động Foreground Service phát nhạc và mở full-screen Activity để Dismiss, Snooze hoặc giải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thiết lập của từng báo thức đều được lưu trong máy nên tắt máy mở lại vẫn còn nguyên. Bảng bên trái là schema thật của bảng alarms; nhóm chỉ lưu ý cột repeat_days mã hóa 0 đến 6 tương ứng Thứ 2 đến Chủ Nhật và database đã qua 3 phiên bản nâng cấp mà không mất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tab còn lại: World Clock hiển thị 9 thành phố cập nhật từng giây, Vietnam luôn được ghim. Timer có Recent Timers lưu bằng SQLite riêng và vẫn báo khi app ở background. Stopwatch chính xác đến centi-giây.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theo phong cách One UI và Material: card bo góc, bottom nav floating, NumberPicker custom. App hỗ trợ cả Light và Dark mode tự động theo hệ thống, với hai bảng màu riêng như trên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3 thành viên chia theo mảng: Alarm core và scheduling, Database và Music, UI cùng 3 tab còn lại. Toàn bộ đồ án hoàn thành trong 8 ngày: dựng khung, CRUD và database, scheduling và music, merge rồi test và polish.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đã hoàn thành đầy đủ các tính năng đề ra trong 8 ngày. Hướng phát triển tiếp theo là bedtime reminder, sleep tracking và widget. Cảm ơn thầy cô và các bạn, sau đây là phần demo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31F"/>
        </a:solidFill>
      </p:bgPr>
    </p:bg>
    <p:spTree>
      <p:nvGrpSpPr>
        <p:cNvPr id="1" name=""/>
        <p:cNvGrpSpPr/>
        <p:nvPr/>
      </p:nvGrpSpPr>
      <p:grpSpPr>
        <a:xfrm>
          <a:off x="0" y="0"/>
          <a:ext cx="0" cy="0"/>
          <a:chOff x="0" y="0"/>
          <a:chExt cx="0" cy="0"/>
        </a:xfrm>
      </p:grpSpPr>
      <p:sp>
        <p:nvSpPr>
          <p:cNvPr id="2" name="Shape 0"/>
          <p:cNvSpPr/>
          <p:nvPr/>
        </p:nvSpPr>
        <p:spPr>
          <a:xfrm>
            <a:off x="8343900" y="2462213"/>
            <a:ext cx="1600200" cy="1600200"/>
          </a:xfrm>
          <a:prstGeom prst="ellipse">
            <a:avLst/>
          </a:prstGeom>
          <a:solidFill>
            <a:srgbClr val="C9B9F8">
              <a:alpha val="8000"/>
            </a:srgbClr>
          </a:solidFill>
          <a:ln w="85725">
            <a:solidFill>
              <a:srgbClr val="C9B9F8"/>
            </a:solidFill>
            <a:prstDash val="solid"/>
          </a:ln>
        </p:spPr>
      </p:sp>
      <p:sp>
        <p:nvSpPr>
          <p:cNvPr id="3" name="Shape 1"/>
          <p:cNvSpPr/>
          <p:nvPr/>
        </p:nvSpPr>
        <p:spPr>
          <a:xfrm rot="2279998">
            <a:off x="9240776" y="2870604"/>
            <a:ext cx="76200" cy="438150"/>
          </a:xfrm>
          <a:prstGeom prst="roundRect">
            <a:avLst>
              <a:gd name="adj" fmla="val 50000"/>
            </a:avLst>
          </a:prstGeom>
          <a:solidFill>
            <a:srgbClr val="C9B9F8"/>
          </a:solidFill>
          <a:ln/>
        </p:spPr>
      </p:sp>
      <p:sp>
        <p:nvSpPr>
          <p:cNvPr id="4" name="Shape 2"/>
          <p:cNvSpPr/>
          <p:nvPr/>
        </p:nvSpPr>
        <p:spPr>
          <a:xfrm rot="-4200001">
            <a:off x="8953740" y="3045006"/>
            <a:ext cx="76200" cy="323850"/>
          </a:xfrm>
          <a:prstGeom prst="roundRect">
            <a:avLst>
              <a:gd name="adj" fmla="val 50000"/>
            </a:avLst>
          </a:prstGeom>
          <a:solidFill>
            <a:srgbClr val="F6F7FB"/>
          </a:solidFill>
          <a:ln/>
        </p:spPr>
      </p:sp>
      <p:sp>
        <p:nvSpPr>
          <p:cNvPr id="5" name="Shape 3"/>
          <p:cNvSpPr/>
          <p:nvPr/>
        </p:nvSpPr>
        <p:spPr>
          <a:xfrm>
            <a:off x="9077325" y="3195638"/>
            <a:ext cx="133350" cy="133350"/>
          </a:xfrm>
          <a:prstGeom prst="ellipse">
            <a:avLst/>
          </a:prstGeom>
          <a:solidFill>
            <a:srgbClr val="C9B9F8"/>
          </a:solidFill>
          <a:ln/>
        </p:spPr>
      </p:sp>
      <p:sp>
        <p:nvSpPr>
          <p:cNvPr id="6" name="Text 4"/>
          <p:cNvSpPr/>
          <p:nvPr/>
        </p:nvSpPr>
        <p:spPr>
          <a:xfrm>
            <a:off x="5916126" y="4405313"/>
            <a:ext cx="6455450" cy="1143000"/>
          </a:xfrm>
          <a:prstGeom prst="rect">
            <a:avLst/>
          </a:prstGeom>
          <a:noFill/>
          <a:ln/>
        </p:spPr>
        <p:txBody>
          <a:bodyPr wrap="square" lIns="25400" tIns="25400" rIns="25400" bIns="25400" rtlCol="0" anchor="t">
            <a:normAutofit/>
          </a:bodyPr>
          <a:lstStyle/>
          <a:p>
            <a:pPr algn="ctr" indent="0" marL="0">
              <a:lnSpc>
                <a:spcPct val="70732"/>
              </a:lnSpc>
              <a:buNone/>
            </a:pPr>
            <a:r>
              <a:rPr lang="en-US" sz="8700" b="1" spc="-150" kern="0" dirty="0">
                <a:solidFill>
                  <a:srgbClr val="F6F7FB"/>
                </a:solidFill>
                <a:latin typeface="Arial" pitchFamily="34" charset="0"/>
                <a:ea typeface="Arial" pitchFamily="34" charset="-122"/>
                <a:cs typeface="Arial" pitchFamily="34" charset="-120"/>
              </a:rPr>
              <a:t>Smart </a:t>
            </a:r>
            <a:pPr algn="ctr" indent="0" marL="0">
              <a:lnSpc>
                <a:spcPct val="70732"/>
              </a:lnSpc>
              <a:buNone/>
            </a:pPr>
            <a:r>
              <a:rPr lang="en-US" sz="8700" b="1" spc="-150" kern="0" dirty="0">
                <a:solidFill>
                  <a:srgbClr val="C9B9F8"/>
                </a:solidFill>
                <a:latin typeface="Arial" pitchFamily="34" charset="0"/>
                <a:ea typeface="Arial" pitchFamily="34" charset="-122"/>
                <a:cs typeface="Arial" pitchFamily="34" charset="-120"/>
              </a:rPr>
              <a:t>Alarm</a:t>
            </a:r>
            <a:endParaRPr lang="en-US" sz="8700" dirty="0"/>
          </a:p>
        </p:txBody>
      </p:sp>
      <p:sp>
        <p:nvSpPr>
          <p:cNvPr id="7" name="Text 5"/>
          <p:cNvSpPr/>
          <p:nvPr/>
        </p:nvSpPr>
        <p:spPr>
          <a:xfrm>
            <a:off x="5105095" y="5681663"/>
            <a:ext cx="8077661" cy="476250"/>
          </a:xfrm>
          <a:prstGeom prst="rect">
            <a:avLst/>
          </a:prstGeom>
          <a:noFill/>
          <a:ln/>
        </p:spPr>
        <p:txBody>
          <a:bodyPr wrap="square" lIns="25400" tIns="25400" rIns="25400" bIns="25400" rtlCol="0" anchor="t">
            <a:normAutofit/>
          </a:bodyPr>
          <a:lstStyle/>
          <a:p>
            <a:pPr algn="ctr" indent="0" marL="0">
              <a:buNone/>
            </a:pPr>
            <a:r>
              <a:rPr lang="en-US" sz="2700" dirty="0">
                <a:solidFill>
                  <a:srgbClr val="F6F7FB">
                    <a:alpha val="85000"/>
                  </a:srgbClr>
                </a:solidFill>
                <a:latin typeface="Arial" pitchFamily="34" charset="0"/>
                <a:ea typeface="Arial" pitchFamily="34" charset="-122"/>
                <a:cs typeface="Arial" pitchFamily="34" charset="-120"/>
              </a:rPr>
              <a:t>Ứng dụng báo thức thông minh trên Android</a:t>
            </a:r>
            <a:endParaRPr lang="en-US" sz="2700" dirty="0"/>
          </a:p>
        </p:txBody>
      </p:sp>
      <p:sp>
        <p:nvSpPr>
          <p:cNvPr id="8" name="Text 6"/>
          <p:cNvSpPr/>
          <p:nvPr/>
        </p:nvSpPr>
        <p:spPr>
          <a:xfrm>
            <a:off x="5061712" y="6291263"/>
            <a:ext cx="8164428" cy="361950"/>
          </a:xfrm>
          <a:prstGeom prst="rect">
            <a:avLst/>
          </a:prstGeom>
          <a:noFill/>
          <a:ln/>
        </p:spPr>
        <p:txBody>
          <a:bodyPr wrap="square" lIns="25400" tIns="25400" rIns="25400" bIns="25400" rtlCol="0" anchor="t">
            <a:normAutofit/>
          </a:bodyPr>
          <a:lstStyle/>
          <a:p>
            <a:pPr algn="ctr" indent="0" marL="0">
              <a:buNone/>
            </a:pPr>
            <a:r>
              <a:rPr lang="en-US" sz="2025" dirty="0">
                <a:solidFill>
                  <a:srgbClr val="F6F7FB">
                    <a:alpha val="55000"/>
                  </a:srgbClr>
                </a:solidFill>
                <a:latin typeface="Arial" pitchFamily="34" charset="0"/>
                <a:ea typeface="Arial" pitchFamily="34" charset="-122"/>
                <a:cs typeface="Arial" pitchFamily="34" charset="-120"/>
              </a:rPr>
              <a:t>Java · XML · Android Studio — Đồ án môn Lập trình Android</a:t>
            </a:r>
            <a:endParaRPr lang="en-US" sz="2025" dirty="0"/>
          </a:p>
        </p:txBody>
      </p:sp>
      <p:sp>
        <p:nvSpPr>
          <p:cNvPr id="9" name="Shape 7"/>
          <p:cNvSpPr/>
          <p:nvPr/>
        </p:nvSpPr>
        <p:spPr>
          <a:xfrm>
            <a:off x="2732633" y="7167563"/>
            <a:ext cx="4121795" cy="657225"/>
          </a:xfrm>
          <a:prstGeom prst="roundRect">
            <a:avLst>
              <a:gd name="adj" fmla="val 26087"/>
            </a:avLst>
          </a:prstGeom>
          <a:ln w="9525">
            <a:solidFill>
              <a:srgbClr val="C9B9F8">
                <a:alpha val="40000"/>
              </a:srgbClr>
            </a:solidFill>
            <a:prstDash val="solid"/>
          </a:ln>
        </p:spPr>
      </p:sp>
      <p:sp>
        <p:nvSpPr>
          <p:cNvPr id="10" name="Text 8"/>
          <p:cNvSpPr/>
          <p:nvPr/>
        </p:nvSpPr>
        <p:spPr>
          <a:xfrm>
            <a:off x="3004181" y="7348538"/>
            <a:ext cx="3578699" cy="333375"/>
          </a:xfrm>
          <a:prstGeom prst="rect">
            <a:avLst/>
          </a:prstGeom>
          <a:noFill/>
          <a:ln/>
        </p:spPr>
        <p:txBody>
          <a:bodyPr wrap="square" lIns="25400" tIns="25400" rIns="25400" bIns="25400" rtlCol="0" anchor="t">
            <a:normAutofit/>
          </a:bodyPr>
          <a:lstStyle/>
          <a:p>
            <a:pPr algn="ctr" indent="0" marL="0">
              <a:buNone/>
            </a:pPr>
            <a:r>
              <a:rPr lang="en-US" sz="1950" b="1" dirty="0">
                <a:solidFill>
                  <a:srgbClr val="F6F7FB"/>
                </a:solidFill>
                <a:latin typeface="Arial" pitchFamily="34" charset="0"/>
                <a:ea typeface="Arial" pitchFamily="34" charset="-122"/>
                <a:cs typeface="Arial" pitchFamily="34" charset="-120"/>
              </a:rPr>
              <a:t>Thành viên 1 · Họ tên — MSSV</a:t>
            </a:r>
            <a:endParaRPr lang="en-US" sz="1950" dirty="0"/>
          </a:p>
        </p:txBody>
      </p:sp>
      <p:sp>
        <p:nvSpPr>
          <p:cNvPr id="11" name="Shape 9"/>
          <p:cNvSpPr/>
          <p:nvPr/>
        </p:nvSpPr>
        <p:spPr>
          <a:xfrm>
            <a:off x="7083028" y="7167563"/>
            <a:ext cx="4121795" cy="657225"/>
          </a:xfrm>
          <a:prstGeom prst="roundRect">
            <a:avLst>
              <a:gd name="adj" fmla="val 26087"/>
            </a:avLst>
          </a:prstGeom>
          <a:ln w="9525">
            <a:solidFill>
              <a:srgbClr val="C9B9F8">
                <a:alpha val="40000"/>
              </a:srgbClr>
            </a:solidFill>
            <a:prstDash val="solid"/>
          </a:ln>
        </p:spPr>
      </p:sp>
      <p:sp>
        <p:nvSpPr>
          <p:cNvPr id="12" name="Text 10"/>
          <p:cNvSpPr/>
          <p:nvPr/>
        </p:nvSpPr>
        <p:spPr>
          <a:xfrm>
            <a:off x="7354576" y="7348538"/>
            <a:ext cx="3578699" cy="333375"/>
          </a:xfrm>
          <a:prstGeom prst="rect">
            <a:avLst/>
          </a:prstGeom>
          <a:noFill/>
          <a:ln/>
        </p:spPr>
        <p:txBody>
          <a:bodyPr wrap="square" lIns="25400" tIns="25400" rIns="25400" bIns="25400" rtlCol="0" anchor="t">
            <a:normAutofit/>
          </a:bodyPr>
          <a:lstStyle/>
          <a:p>
            <a:pPr algn="ctr" indent="0" marL="0">
              <a:buNone/>
            </a:pPr>
            <a:r>
              <a:rPr lang="en-US" sz="1950" b="1" dirty="0">
                <a:solidFill>
                  <a:srgbClr val="F6F7FB"/>
                </a:solidFill>
                <a:latin typeface="Arial" pitchFamily="34" charset="0"/>
                <a:ea typeface="Arial" pitchFamily="34" charset="-122"/>
                <a:cs typeface="Arial" pitchFamily="34" charset="-120"/>
              </a:rPr>
              <a:t>Thành viên 2 · Họ tên — MSSV</a:t>
            </a:r>
            <a:endParaRPr lang="en-US" sz="1950" dirty="0"/>
          </a:p>
        </p:txBody>
      </p:sp>
      <p:sp>
        <p:nvSpPr>
          <p:cNvPr id="13" name="Shape 11"/>
          <p:cNvSpPr/>
          <p:nvPr/>
        </p:nvSpPr>
        <p:spPr>
          <a:xfrm>
            <a:off x="11433423" y="7167563"/>
            <a:ext cx="4121795" cy="657225"/>
          </a:xfrm>
          <a:prstGeom prst="roundRect">
            <a:avLst>
              <a:gd name="adj" fmla="val 26087"/>
            </a:avLst>
          </a:prstGeom>
          <a:ln w="9525">
            <a:solidFill>
              <a:srgbClr val="C9B9F8">
                <a:alpha val="40000"/>
              </a:srgbClr>
            </a:solidFill>
            <a:prstDash val="solid"/>
          </a:ln>
        </p:spPr>
      </p:sp>
      <p:sp>
        <p:nvSpPr>
          <p:cNvPr id="14" name="Text 12"/>
          <p:cNvSpPr/>
          <p:nvPr/>
        </p:nvSpPr>
        <p:spPr>
          <a:xfrm>
            <a:off x="11704971" y="7348538"/>
            <a:ext cx="3578699" cy="333375"/>
          </a:xfrm>
          <a:prstGeom prst="rect">
            <a:avLst/>
          </a:prstGeom>
          <a:noFill/>
          <a:ln/>
        </p:spPr>
        <p:txBody>
          <a:bodyPr wrap="square" lIns="25400" tIns="25400" rIns="25400" bIns="25400" rtlCol="0" anchor="t">
            <a:normAutofit/>
          </a:bodyPr>
          <a:lstStyle/>
          <a:p>
            <a:pPr algn="ctr" indent="0" marL="0">
              <a:buNone/>
            </a:pPr>
            <a:r>
              <a:rPr lang="en-US" sz="1950" b="1" dirty="0">
                <a:solidFill>
                  <a:srgbClr val="F6F7FB"/>
                </a:solidFill>
                <a:latin typeface="Arial" pitchFamily="34" charset="0"/>
                <a:ea typeface="Arial" pitchFamily="34" charset="-122"/>
                <a:cs typeface="Arial" pitchFamily="34" charset="-120"/>
              </a:rPr>
              <a:t>Thành viên 3 · Họ tên — MSSV</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02 · ĐẶT VẤN ĐỀ</a:t>
            </a:r>
            <a:endParaRPr lang="en-US" sz="1950" dirty="0"/>
          </a:p>
        </p:txBody>
      </p:sp>
      <p:sp>
        <p:nvSpPr>
          <p:cNvPr id="3" name="Text 1"/>
          <p:cNvSpPr/>
          <p:nvPr/>
        </p:nvSpPr>
        <p:spPr>
          <a:xfrm>
            <a:off x="952500" y="1266825"/>
            <a:ext cx="18021300"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Bài toán &amp; Mục tiêu</a:t>
            </a:r>
            <a:endParaRPr lang="en-US" sz="4500" dirty="0"/>
          </a:p>
        </p:txBody>
      </p:sp>
      <p:sp>
        <p:nvSpPr>
          <p:cNvPr id="4" name="Text 2"/>
          <p:cNvSpPr/>
          <p:nvPr/>
        </p:nvSpPr>
        <p:spPr>
          <a:xfrm>
            <a:off x="952500" y="2428875"/>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257D70"/>
                </a:solidFill>
                <a:latin typeface="Arial" pitchFamily="34" charset="0"/>
                <a:ea typeface="Arial" pitchFamily="34" charset="-122"/>
                <a:cs typeface="Arial" pitchFamily="34" charset="-120"/>
              </a:rPr>
              <a:t>Bài toán</a:t>
            </a:r>
            <a:endParaRPr lang="en-US" sz="2550" dirty="0"/>
          </a:p>
        </p:txBody>
      </p:sp>
      <p:sp>
        <p:nvSpPr>
          <p:cNvPr id="5" name="Shape 3"/>
          <p:cNvSpPr/>
          <p:nvPr/>
        </p:nvSpPr>
        <p:spPr>
          <a:xfrm>
            <a:off x="952500" y="3228975"/>
            <a:ext cx="104775" cy="104775"/>
          </a:xfrm>
          <a:prstGeom prst="ellipse">
            <a:avLst/>
          </a:prstGeom>
          <a:solidFill>
            <a:srgbClr val="257D70"/>
          </a:solidFill>
          <a:ln/>
        </p:spPr>
      </p:sp>
      <p:sp>
        <p:nvSpPr>
          <p:cNvPr id="6" name="Text 4"/>
          <p:cNvSpPr/>
          <p:nvPr/>
        </p:nvSpPr>
        <p:spPr>
          <a:xfrm>
            <a:off x="1247775" y="3105150"/>
            <a:ext cx="7740682"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Báo thức có sẵn trên máy </a:t>
            </a:r>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quá đơn giản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không đặt được nhạc mình thích cho từng giờ</a:t>
            </a:r>
            <a:endParaRPr lang="en-US" sz="2250" dirty="0"/>
          </a:p>
        </p:txBody>
      </p:sp>
      <p:sp>
        <p:nvSpPr>
          <p:cNvPr id="7" name="Shape 5"/>
          <p:cNvSpPr/>
          <p:nvPr/>
        </p:nvSpPr>
        <p:spPr>
          <a:xfrm>
            <a:off x="952500" y="4333875"/>
            <a:ext cx="104775" cy="104775"/>
          </a:xfrm>
          <a:prstGeom prst="ellipse">
            <a:avLst/>
          </a:prstGeom>
          <a:solidFill>
            <a:srgbClr val="257D70"/>
          </a:solidFill>
          <a:ln/>
        </p:spPr>
      </p:sp>
      <p:sp>
        <p:nvSpPr>
          <p:cNvPr id="8" name="Text 6"/>
          <p:cNvSpPr/>
          <p:nvPr/>
        </p:nvSpPr>
        <p:spPr>
          <a:xfrm>
            <a:off x="1247775" y="4210050"/>
            <a:ext cx="7740682"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Tắt chuông quá dễ nên </a:t>
            </a:r>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vẫn ngủ quên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nhất là sinh viên có tiết sáng</a:t>
            </a:r>
            <a:endParaRPr lang="en-US" sz="2250" dirty="0"/>
          </a:p>
        </p:txBody>
      </p:sp>
      <p:sp>
        <p:nvSpPr>
          <p:cNvPr id="9" name="Shape 7"/>
          <p:cNvSpPr/>
          <p:nvPr/>
        </p:nvSpPr>
        <p:spPr>
          <a:xfrm>
            <a:off x="952500" y="5438775"/>
            <a:ext cx="104775" cy="104775"/>
          </a:xfrm>
          <a:prstGeom prst="ellipse">
            <a:avLst/>
          </a:prstGeom>
          <a:solidFill>
            <a:srgbClr val="257D70"/>
          </a:solidFill>
          <a:ln/>
        </p:spPr>
      </p:sp>
      <p:sp>
        <p:nvSpPr>
          <p:cNvPr id="10" name="Text 8"/>
          <p:cNvSpPr/>
          <p:nvPr/>
        </p:nvSpPr>
        <p:spPr>
          <a:xfrm>
            <a:off x="1247775" y="5314950"/>
            <a:ext cx="7740682"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Xem giờ nước ngoài, hẹn giờ, bấm giờ đang phải dùng </a:t>
            </a:r>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nhiều app rời rạc</a:t>
            </a:r>
            <a:endParaRPr lang="en-US" sz="2250" dirty="0"/>
          </a:p>
        </p:txBody>
      </p:sp>
      <p:sp>
        <p:nvSpPr>
          <p:cNvPr id="11" name="Text 9"/>
          <p:cNvSpPr/>
          <p:nvPr/>
        </p:nvSpPr>
        <p:spPr>
          <a:xfrm>
            <a:off x="9525000" y="2428875"/>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C85C42"/>
                </a:solidFill>
                <a:latin typeface="Arial" pitchFamily="34" charset="0"/>
                <a:ea typeface="Arial" pitchFamily="34" charset="-122"/>
                <a:cs typeface="Arial" pitchFamily="34" charset="-120"/>
              </a:rPr>
              <a:t>Mục tiêu</a:t>
            </a:r>
            <a:endParaRPr lang="en-US" sz="2550" dirty="0"/>
          </a:p>
        </p:txBody>
      </p:sp>
      <p:sp>
        <p:nvSpPr>
          <p:cNvPr id="12" name="Shape 10"/>
          <p:cNvSpPr/>
          <p:nvPr/>
        </p:nvSpPr>
        <p:spPr>
          <a:xfrm>
            <a:off x="9525000" y="3228975"/>
            <a:ext cx="104775" cy="104775"/>
          </a:xfrm>
          <a:prstGeom prst="ellipse">
            <a:avLst/>
          </a:prstGeom>
          <a:solidFill>
            <a:srgbClr val="C85C42"/>
          </a:solidFill>
          <a:ln/>
        </p:spPr>
      </p:sp>
      <p:sp>
        <p:nvSpPr>
          <p:cNvPr id="13" name="Text 11"/>
          <p:cNvSpPr/>
          <p:nvPr/>
        </p:nvSpPr>
        <p:spPr>
          <a:xfrm>
            <a:off x="9820275" y="3105150"/>
            <a:ext cx="7740682"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Một app, bốn tiện ích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báo thức, giờ thế giới, hẹn giờ, bấm giờ</a:t>
            </a:r>
            <a:endParaRPr lang="en-US" sz="2250" dirty="0"/>
          </a:p>
        </p:txBody>
      </p:sp>
      <p:sp>
        <p:nvSpPr>
          <p:cNvPr id="14" name="Shape 12"/>
          <p:cNvSpPr/>
          <p:nvPr/>
        </p:nvSpPr>
        <p:spPr>
          <a:xfrm>
            <a:off x="9525000" y="4333875"/>
            <a:ext cx="104775" cy="104775"/>
          </a:xfrm>
          <a:prstGeom prst="ellipse">
            <a:avLst/>
          </a:prstGeom>
          <a:solidFill>
            <a:srgbClr val="C85C42"/>
          </a:solidFill>
          <a:ln/>
        </p:spPr>
      </p:sp>
      <p:sp>
        <p:nvSpPr>
          <p:cNvPr id="15" name="Text 13"/>
          <p:cNvSpPr/>
          <p:nvPr/>
        </p:nvSpPr>
        <p:spPr>
          <a:xfrm>
            <a:off x="9820275" y="4210050"/>
            <a:ext cx="7740682"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Chuông reo là chắc chắn dậy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đúng giờ, đè cả màn hình khóa</a:t>
            </a:r>
            <a:endParaRPr lang="en-US" sz="2250" dirty="0"/>
          </a:p>
        </p:txBody>
      </p:sp>
      <p:sp>
        <p:nvSpPr>
          <p:cNvPr id="16" name="Shape 14"/>
          <p:cNvSpPr/>
          <p:nvPr/>
        </p:nvSpPr>
        <p:spPr>
          <a:xfrm>
            <a:off x="9525000" y="5438775"/>
            <a:ext cx="104775" cy="104775"/>
          </a:xfrm>
          <a:prstGeom prst="ellipse">
            <a:avLst/>
          </a:prstGeom>
          <a:solidFill>
            <a:srgbClr val="C85C42"/>
          </a:solidFill>
          <a:ln/>
        </p:spPr>
      </p:sp>
      <p:sp>
        <p:nvSpPr>
          <p:cNvPr id="17" name="Text 15"/>
          <p:cNvSpPr/>
          <p:nvPr/>
        </p:nvSpPr>
        <p:spPr>
          <a:xfrm>
            <a:off x="9820275" y="5314950"/>
            <a:ext cx="7740682"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Nhạc của riêng bạn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5 nhạc có sẵn hoặc bài hát trong máy</a:t>
            </a:r>
            <a:endParaRPr lang="en-US" sz="2250" dirty="0"/>
          </a:p>
        </p:txBody>
      </p:sp>
      <p:sp>
        <p:nvSpPr>
          <p:cNvPr id="18" name="Shape 16"/>
          <p:cNvSpPr/>
          <p:nvPr/>
        </p:nvSpPr>
        <p:spPr>
          <a:xfrm>
            <a:off x="9525000" y="6543675"/>
            <a:ext cx="104775" cy="104775"/>
          </a:xfrm>
          <a:prstGeom prst="ellipse">
            <a:avLst/>
          </a:prstGeom>
          <a:solidFill>
            <a:srgbClr val="C85C42"/>
          </a:solidFill>
          <a:ln/>
        </p:spPr>
      </p:sp>
      <p:sp>
        <p:nvSpPr>
          <p:cNvPr id="19" name="Text 17"/>
          <p:cNvSpPr/>
          <p:nvPr/>
        </p:nvSpPr>
        <p:spPr>
          <a:xfrm>
            <a:off x="9820275" y="6419850"/>
            <a:ext cx="7740682"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Nhìn là muốn dùng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giao diện gọn gàng, tự đổi sáng / tối theo máy</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03 · CÔNG NGHỆ</a:t>
            </a:r>
            <a:endParaRPr lang="en-US" sz="1950" dirty="0"/>
          </a:p>
        </p:txBody>
      </p:sp>
      <p:sp>
        <p:nvSpPr>
          <p:cNvPr id="3" name="Text 1"/>
          <p:cNvSpPr/>
          <p:nvPr/>
        </p:nvSpPr>
        <p:spPr>
          <a:xfrm>
            <a:off x="952500" y="1266825"/>
            <a:ext cx="18021300"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Tech Stack</a:t>
            </a:r>
            <a:endParaRPr lang="en-US" sz="4500" dirty="0"/>
          </a:p>
        </p:txBody>
      </p:sp>
      <p:sp>
        <p:nvSpPr>
          <p:cNvPr id="4" name="Text 2"/>
          <p:cNvSpPr/>
          <p:nvPr/>
        </p:nvSpPr>
        <p:spPr>
          <a:xfrm>
            <a:off x="952500" y="2085975"/>
            <a:ext cx="18021300" cy="390525"/>
          </a:xfrm>
          <a:prstGeom prst="rect">
            <a:avLst/>
          </a:prstGeom>
          <a:noFill/>
          <a:ln/>
        </p:spPr>
        <p:txBody>
          <a:bodyPr wrap="square" lIns="25400" tIns="25400" rIns="25400" bIns="25400" rtlCol="0" anchor="t">
            <a:normAutofit/>
          </a:bodyPr>
          <a:lstStyle/>
          <a:p>
            <a:pPr algn="l" indent="0" marL="0">
              <a:buNone/>
            </a:pPr>
            <a:r>
              <a:rPr lang="en-US" sz="2175" dirty="0">
                <a:solidFill>
                  <a:srgbClr val="3C4450"/>
                </a:solidFill>
                <a:latin typeface="Arial" pitchFamily="34" charset="0"/>
                <a:ea typeface="Arial" pitchFamily="34" charset="-122"/>
                <a:cs typeface="Arial" pitchFamily="34" charset="-120"/>
              </a:rPr>
              <a:t>100% Java + XML — không Kotlin, không thư viện bên thứ ba ngoài Material Components.</a:t>
            </a:r>
            <a:endParaRPr lang="en-US" sz="2175" dirty="0"/>
          </a:p>
        </p:txBody>
      </p:sp>
      <p:sp>
        <p:nvSpPr>
          <p:cNvPr id="5" name="Text 3"/>
          <p:cNvSpPr/>
          <p:nvPr/>
        </p:nvSpPr>
        <p:spPr>
          <a:xfrm>
            <a:off x="952500" y="3076575"/>
            <a:ext cx="2619375" cy="304800"/>
          </a:xfrm>
          <a:prstGeom prst="rect">
            <a:avLst/>
          </a:prstGeom>
          <a:noFill/>
          <a:ln/>
        </p:spPr>
        <p:txBody>
          <a:bodyPr wrap="none" lIns="25400" tIns="25400" rIns="25400" bIns="25400" rtlCol="0" anchor="t">
            <a:normAutofit/>
          </a:bodyPr>
          <a:lstStyle/>
          <a:p>
            <a:pPr algn="l" indent="0" marL="0">
              <a:buNone/>
            </a:pPr>
            <a:r>
              <a:rPr lang="en-US" sz="1800" b="1" spc="150" kern="0" dirty="0">
                <a:solidFill>
                  <a:srgbClr val="C85C42"/>
                </a:solidFill>
                <a:latin typeface="Arial" pitchFamily="34" charset="0"/>
                <a:ea typeface="Arial" pitchFamily="34" charset="-122"/>
                <a:cs typeface="Arial" pitchFamily="34" charset="-120"/>
              </a:rPr>
              <a:t>GIAO DIỆN</a:t>
            </a:r>
            <a:endParaRPr lang="en-US" sz="1800" dirty="0"/>
          </a:p>
        </p:txBody>
      </p:sp>
      <p:sp>
        <p:nvSpPr>
          <p:cNvPr id="6" name="Text 4"/>
          <p:cNvSpPr/>
          <p:nvPr/>
        </p:nvSpPr>
        <p:spPr>
          <a:xfrm>
            <a:off x="3562350" y="2971800"/>
            <a:ext cx="11938784"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3C4450"/>
                </a:solidFill>
                <a:latin typeface="Arial" pitchFamily="34" charset="0"/>
                <a:ea typeface="Arial" pitchFamily="34" charset="-122"/>
                <a:cs typeface="Arial" pitchFamily="34" charset="-120"/>
              </a:rPr>
              <a:t>Java + XML, Material Components — danh sách, 4 tab, NumberPicker chọn giờ</a:t>
            </a:r>
            <a:endParaRPr lang="en-US" sz="2250" dirty="0"/>
          </a:p>
        </p:txBody>
      </p:sp>
      <p:sp>
        <p:nvSpPr>
          <p:cNvPr id="7" name="Text 5"/>
          <p:cNvSpPr/>
          <p:nvPr/>
        </p:nvSpPr>
        <p:spPr>
          <a:xfrm>
            <a:off x="952500" y="3790950"/>
            <a:ext cx="2619375" cy="304800"/>
          </a:xfrm>
          <a:prstGeom prst="rect">
            <a:avLst/>
          </a:prstGeom>
          <a:noFill/>
          <a:ln/>
        </p:spPr>
        <p:txBody>
          <a:bodyPr wrap="none" lIns="25400" tIns="25400" rIns="25400" bIns="25400" rtlCol="0" anchor="t">
            <a:normAutofit/>
          </a:bodyPr>
          <a:lstStyle/>
          <a:p>
            <a:pPr algn="l" indent="0" marL="0">
              <a:buNone/>
            </a:pPr>
            <a:r>
              <a:rPr lang="en-US" sz="1800" b="1" spc="150" kern="0" dirty="0">
                <a:solidFill>
                  <a:srgbClr val="C85C42"/>
                </a:solidFill>
                <a:latin typeface="Arial" pitchFamily="34" charset="0"/>
                <a:ea typeface="Arial" pitchFamily="34" charset="-122"/>
                <a:cs typeface="Arial" pitchFamily="34" charset="-120"/>
              </a:rPr>
              <a:t>LƯU DỮ LIỆU</a:t>
            </a:r>
            <a:endParaRPr lang="en-US" sz="1800" dirty="0"/>
          </a:p>
        </p:txBody>
      </p:sp>
      <p:sp>
        <p:nvSpPr>
          <p:cNvPr id="8" name="Text 6"/>
          <p:cNvSpPr/>
          <p:nvPr/>
        </p:nvSpPr>
        <p:spPr>
          <a:xfrm>
            <a:off x="3562350" y="3686175"/>
            <a:ext cx="9855398"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3C4450"/>
                </a:solidFill>
                <a:latin typeface="Arial" pitchFamily="34" charset="0"/>
                <a:ea typeface="Arial" pitchFamily="34" charset="-122"/>
                <a:cs typeface="Arial" pitchFamily="34" charset="-120"/>
              </a:rPr>
              <a:t>SQLite — báo thức và timer gần nhất còn nguyên sau khi tắt máy</a:t>
            </a:r>
            <a:endParaRPr lang="en-US" sz="2250" dirty="0"/>
          </a:p>
        </p:txBody>
      </p:sp>
      <p:sp>
        <p:nvSpPr>
          <p:cNvPr id="9" name="Text 7"/>
          <p:cNvSpPr/>
          <p:nvPr/>
        </p:nvSpPr>
        <p:spPr>
          <a:xfrm>
            <a:off x="952500" y="4505325"/>
            <a:ext cx="2619375" cy="304800"/>
          </a:xfrm>
          <a:prstGeom prst="rect">
            <a:avLst/>
          </a:prstGeom>
          <a:noFill/>
          <a:ln/>
        </p:spPr>
        <p:txBody>
          <a:bodyPr wrap="none" lIns="25400" tIns="25400" rIns="25400" bIns="25400" rtlCol="0" anchor="t">
            <a:normAutofit/>
          </a:bodyPr>
          <a:lstStyle/>
          <a:p>
            <a:pPr algn="l" indent="0" marL="0">
              <a:buNone/>
            </a:pPr>
            <a:r>
              <a:rPr lang="en-US" sz="1800" b="1" spc="150" kern="0" dirty="0">
                <a:solidFill>
                  <a:srgbClr val="C85C42"/>
                </a:solidFill>
                <a:latin typeface="Arial" pitchFamily="34" charset="0"/>
                <a:ea typeface="Arial" pitchFamily="34" charset="-122"/>
                <a:cs typeface="Arial" pitchFamily="34" charset="-120"/>
              </a:rPr>
              <a:t>ĐẶT LỊCH CHUÔNG</a:t>
            </a:r>
            <a:endParaRPr lang="en-US" sz="1800" dirty="0"/>
          </a:p>
        </p:txBody>
      </p:sp>
      <p:sp>
        <p:nvSpPr>
          <p:cNvPr id="10" name="Text 8"/>
          <p:cNvSpPr/>
          <p:nvPr/>
        </p:nvSpPr>
        <p:spPr>
          <a:xfrm>
            <a:off x="3562350" y="4400550"/>
            <a:ext cx="8870677"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3C4450"/>
                </a:solidFill>
                <a:latin typeface="Arial" pitchFamily="34" charset="0"/>
                <a:ea typeface="Arial" pitchFamily="34" charset="-122"/>
                <a:cs typeface="Arial" pitchFamily="34" charset="-120"/>
              </a:rPr>
              <a:t>AlarmManager — hệ thống đánh thức app đúng giờ đã hẹn</a:t>
            </a:r>
            <a:endParaRPr lang="en-US" sz="2250" dirty="0"/>
          </a:p>
        </p:txBody>
      </p:sp>
      <p:sp>
        <p:nvSpPr>
          <p:cNvPr id="11" name="Text 9"/>
          <p:cNvSpPr/>
          <p:nvPr/>
        </p:nvSpPr>
        <p:spPr>
          <a:xfrm>
            <a:off x="952500" y="5219700"/>
            <a:ext cx="2619375" cy="304800"/>
          </a:xfrm>
          <a:prstGeom prst="rect">
            <a:avLst/>
          </a:prstGeom>
          <a:noFill/>
          <a:ln/>
        </p:spPr>
        <p:txBody>
          <a:bodyPr wrap="none" lIns="25400" tIns="25400" rIns="25400" bIns="25400" rtlCol="0" anchor="t">
            <a:normAutofit/>
          </a:bodyPr>
          <a:lstStyle/>
          <a:p>
            <a:pPr algn="l" indent="0" marL="0">
              <a:buNone/>
            </a:pPr>
            <a:r>
              <a:rPr lang="en-US" sz="1800" b="1" spc="150" kern="0" dirty="0">
                <a:solidFill>
                  <a:srgbClr val="C85C42"/>
                </a:solidFill>
                <a:latin typeface="Arial" pitchFamily="34" charset="0"/>
                <a:ea typeface="Arial" pitchFamily="34" charset="-122"/>
                <a:cs typeface="Arial" pitchFamily="34" charset="-120"/>
              </a:rPr>
              <a:t>PHÁT CHUÔNG</a:t>
            </a:r>
            <a:endParaRPr lang="en-US" sz="1800" dirty="0"/>
          </a:p>
        </p:txBody>
      </p:sp>
      <p:sp>
        <p:nvSpPr>
          <p:cNvPr id="12" name="Text 10"/>
          <p:cNvSpPr/>
          <p:nvPr/>
        </p:nvSpPr>
        <p:spPr>
          <a:xfrm>
            <a:off x="3562350" y="5114925"/>
            <a:ext cx="12720176"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3C4450"/>
                </a:solidFill>
                <a:latin typeface="Arial" pitchFamily="34" charset="0"/>
                <a:ea typeface="Arial" pitchFamily="34" charset="-122"/>
                <a:cs typeface="Arial" pitchFamily="34" charset="-120"/>
              </a:rPr>
              <a:t>MediaPlayer + Vibrator chạy trong Foreground Service để không bị ngắt giữa chừng</a:t>
            </a:r>
            <a:endParaRPr lang="en-US" sz="2250" dirty="0"/>
          </a:p>
        </p:txBody>
      </p:sp>
      <p:sp>
        <p:nvSpPr>
          <p:cNvPr id="13" name="Text 11"/>
          <p:cNvSpPr/>
          <p:nvPr/>
        </p:nvSpPr>
        <p:spPr>
          <a:xfrm>
            <a:off x="952500" y="5934075"/>
            <a:ext cx="2619375" cy="304800"/>
          </a:xfrm>
          <a:prstGeom prst="rect">
            <a:avLst/>
          </a:prstGeom>
          <a:noFill/>
          <a:ln/>
        </p:spPr>
        <p:txBody>
          <a:bodyPr wrap="none" lIns="25400" tIns="25400" rIns="25400" bIns="25400" rtlCol="0" anchor="t">
            <a:normAutofit/>
          </a:bodyPr>
          <a:lstStyle/>
          <a:p>
            <a:pPr algn="l" indent="0" marL="0">
              <a:buNone/>
            </a:pPr>
            <a:r>
              <a:rPr lang="en-US" sz="1800" b="1" spc="150" kern="0" dirty="0">
                <a:solidFill>
                  <a:srgbClr val="C85C42"/>
                </a:solidFill>
                <a:latin typeface="Arial" pitchFamily="34" charset="0"/>
                <a:ea typeface="Arial" pitchFamily="34" charset="-122"/>
                <a:cs typeface="Arial" pitchFamily="34" charset="-120"/>
              </a:rPr>
              <a:t>CHỌN NHẠC</a:t>
            </a:r>
            <a:endParaRPr lang="en-US" sz="1800" dirty="0"/>
          </a:p>
        </p:txBody>
      </p:sp>
      <p:sp>
        <p:nvSpPr>
          <p:cNvPr id="14" name="Text 12"/>
          <p:cNvSpPr/>
          <p:nvPr/>
        </p:nvSpPr>
        <p:spPr>
          <a:xfrm>
            <a:off x="3562350" y="5829300"/>
            <a:ext cx="8429312"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3C4450"/>
                </a:solidFill>
                <a:latin typeface="Arial" pitchFamily="34" charset="0"/>
                <a:ea typeface="Arial" pitchFamily="34" charset="-122"/>
                <a:cs typeface="Arial" pitchFamily="34" charset="-120"/>
              </a:rPr>
              <a:t>Đọc file nhạc trong máy qua trình chọn file của Android</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04 · TỔNG QUAN</a:t>
            </a:r>
            <a:endParaRPr lang="en-US" sz="1950" dirty="0"/>
          </a:p>
        </p:txBody>
      </p:sp>
      <p:sp>
        <p:nvSpPr>
          <p:cNvPr id="3" name="Text 1"/>
          <p:cNvSpPr/>
          <p:nvPr/>
        </p:nvSpPr>
        <p:spPr>
          <a:xfrm>
            <a:off x="952500" y="1266825"/>
            <a:ext cx="18021300"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Bốn tab tiện ích thời gian</a:t>
            </a:r>
            <a:endParaRPr lang="en-US" sz="4500" dirty="0"/>
          </a:p>
        </p:txBody>
      </p:sp>
      <p:sp>
        <p:nvSpPr>
          <p:cNvPr id="4" name="Text 2"/>
          <p:cNvSpPr/>
          <p:nvPr/>
        </p:nvSpPr>
        <p:spPr>
          <a:xfrm>
            <a:off x="952500" y="2533650"/>
            <a:ext cx="990600"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C85C42"/>
                </a:solidFill>
                <a:latin typeface="Arial" pitchFamily="34" charset="0"/>
                <a:ea typeface="Arial" pitchFamily="34" charset="-122"/>
                <a:cs typeface="Arial" pitchFamily="34" charset="-120"/>
              </a:rPr>
              <a:t>TAB 1</a:t>
            </a:r>
            <a:endParaRPr lang="en-US" sz="1800" dirty="0"/>
          </a:p>
        </p:txBody>
      </p:sp>
      <p:sp>
        <p:nvSpPr>
          <p:cNvPr id="5" name="Text 3"/>
          <p:cNvSpPr/>
          <p:nvPr/>
        </p:nvSpPr>
        <p:spPr>
          <a:xfrm>
            <a:off x="2095500" y="2428875"/>
            <a:ext cx="3143250"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257D70"/>
                </a:solidFill>
                <a:latin typeface="Arial" pitchFamily="34" charset="0"/>
                <a:ea typeface="Arial" pitchFamily="34" charset="-122"/>
                <a:cs typeface="Arial" pitchFamily="34" charset="-120"/>
              </a:rPr>
              <a:t>Alarm</a:t>
            </a:r>
            <a:endParaRPr lang="en-US" sz="2700" dirty="0"/>
          </a:p>
        </p:txBody>
      </p:sp>
      <p:sp>
        <p:nvSpPr>
          <p:cNvPr id="6" name="Text 4"/>
          <p:cNvSpPr/>
          <p:nvPr/>
        </p:nvSpPr>
        <p:spPr>
          <a:xfrm>
            <a:off x="5181600" y="2438400"/>
            <a:ext cx="9701674" cy="452438"/>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3C4450"/>
                </a:solidFill>
                <a:latin typeface="Arial" pitchFamily="34" charset="0"/>
                <a:ea typeface="Arial" pitchFamily="34" charset="-122"/>
                <a:cs typeface="Arial" pitchFamily="34" charset="-120"/>
              </a:rPr>
              <a:t>Đặt / sửa / xóa báo thức, nhạc riêng, tắt chuông bằng giải toán</a:t>
            </a:r>
            <a:endParaRPr lang="en-US" sz="2250" dirty="0"/>
          </a:p>
        </p:txBody>
      </p:sp>
      <p:sp>
        <p:nvSpPr>
          <p:cNvPr id="7" name="Text 5"/>
          <p:cNvSpPr/>
          <p:nvPr/>
        </p:nvSpPr>
        <p:spPr>
          <a:xfrm>
            <a:off x="952500" y="3281363"/>
            <a:ext cx="990600"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C85C42"/>
                </a:solidFill>
                <a:latin typeface="Arial" pitchFamily="34" charset="0"/>
                <a:ea typeface="Arial" pitchFamily="34" charset="-122"/>
                <a:cs typeface="Arial" pitchFamily="34" charset="-120"/>
              </a:rPr>
              <a:t>TAB 2</a:t>
            </a:r>
            <a:endParaRPr lang="en-US" sz="1800" dirty="0"/>
          </a:p>
        </p:txBody>
      </p:sp>
      <p:sp>
        <p:nvSpPr>
          <p:cNvPr id="8" name="Text 6"/>
          <p:cNvSpPr/>
          <p:nvPr/>
        </p:nvSpPr>
        <p:spPr>
          <a:xfrm>
            <a:off x="2095500" y="3176588"/>
            <a:ext cx="3143250"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257D70"/>
                </a:solidFill>
                <a:latin typeface="Arial" pitchFamily="34" charset="0"/>
                <a:ea typeface="Arial" pitchFamily="34" charset="-122"/>
                <a:cs typeface="Arial" pitchFamily="34" charset="-120"/>
              </a:rPr>
              <a:t>World Clock</a:t>
            </a:r>
            <a:endParaRPr lang="en-US" sz="2700" dirty="0"/>
          </a:p>
        </p:txBody>
      </p:sp>
      <p:sp>
        <p:nvSpPr>
          <p:cNvPr id="9" name="Text 7"/>
          <p:cNvSpPr/>
          <p:nvPr/>
        </p:nvSpPr>
        <p:spPr>
          <a:xfrm>
            <a:off x="5181600" y="3186113"/>
            <a:ext cx="6043553" cy="452438"/>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3C4450"/>
                </a:solidFill>
                <a:latin typeface="Arial" pitchFamily="34" charset="0"/>
                <a:ea typeface="Arial" pitchFamily="34" charset="-122"/>
                <a:cs typeface="Arial" pitchFamily="34" charset="-120"/>
              </a:rPr>
              <a:t>Giờ 9 thành phố lớn, cập nhật từng giây</a:t>
            </a:r>
            <a:endParaRPr lang="en-US" sz="2250" dirty="0"/>
          </a:p>
        </p:txBody>
      </p:sp>
      <p:sp>
        <p:nvSpPr>
          <p:cNvPr id="10" name="Text 8"/>
          <p:cNvSpPr/>
          <p:nvPr/>
        </p:nvSpPr>
        <p:spPr>
          <a:xfrm>
            <a:off x="952500" y="4029075"/>
            <a:ext cx="990600"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C85C42"/>
                </a:solidFill>
                <a:latin typeface="Arial" pitchFamily="34" charset="0"/>
                <a:ea typeface="Arial" pitchFamily="34" charset="-122"/>
                <a:cs typeface="Arial" pitchFamily="34" charset="-120"/>
              </a:rPr>
              <a:t>TAB 3</a:t>
            </a:r>
            <a:endParaRPr lang="en-US" sz="1800" dirty="0"/>
          </a:p>
        </p:txBody>
      </p:sp>
      <p:sp>
        <p:nvSpPr>
          <p:cNvPr id="11" name="Text 9"/>
          <p:cNvSpPr/>
          <p:nvPr/>
        </p:nvSpPr>
        <p:spPr>
          <a:xfrm>
            <a:off x="2095500" y="3924300"/>
            <a:ext cx="3143250"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257D70"/>
                </a:solidFill>
                <a:latin typeface="Arial" pitchFamily="34" charset="0"/>
                <a:ea typeface="Arial" pitchFamily="34" charset="-122"/>
                <a:cs typeface="Arial" pitchFamily="34" charset="-120"/>
              </a:rPr>
              <a:t>Timer</a:t>
            </a:r>
            <a:endParaRPr lang="en-US" sz="2700" dirty="0"/>
          </a:p>
        </p:txBody>
      </p:sp>
      <p:sp>
        <p:nvSpPr>
          <p:cNvPr id="12" name="Text 10"/>
          <p:cNvSpPr/>
          <p:nvPr/>
        </p:nvSpPr>
        <p:spPr>
          <a:xfrm>
            <a:off x="5181600" y="3933825"/>
            <a:ext cx="5998696" cy="452438"/>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3C4450"/>
                </a:solidFill>
                <a:latin typeface="Arial" pitchFamily="34" charset="0"/>
                <a:ea typeface="Arial" pitchFamily="34" charset="-122"/>
                <a:cs typeface="Arial" pitchFamily="34" charset="-120"/>
              </a:rPr>
              <a:t>Đếm ngược có tên, lưu 5 timer gần nhất</a:t>
            </a:r>
            <a:endParaRPr lang="en-US" sz="2250" dirty="0"/>
          </a:p>
        </p:txBody>
      </p:sp>
      <p:sp>
        <p:nvSpPr>
          <p:cNvPr id="13" name="Text 11"/>
          <p:cNvSpPr/>
          <p:nvPr/>
        </p:nvSpPr>
        <p:spPr>
          <a:xfrm>
            <a:off x="952500" y="4776788"/>
            <a:ext cx="990600"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C85C42"/>
                </a:solidFill>
                <a:latin typeface="Arial" pitchFamily="34" charset="0"/>
                <a:ea typeface="Arial" pitchFamily="34" charset="-122"/>
                <a:cs typeface="Arial" pitchFamily="34" charset="-120"/>
              </a:rPr>
              <a:t>TAB 4</a:t>
            </a:r>
            <a:endParaRPr lang="en-US" sz="1800" dirty="0"/>
          </a:p>
        </p:txBody>
      </p:sp>
      <p:sp>
        <p:nvSpPr>
          <p:cNvPr id="14" name="Text 12"/>
          <p:cNvSpPr/>
          <p:nvPr/>
        </p:nvSpPr>
        <p:spPr>
          <a:xfrm>
            <a:off x="2095500" y="4672013"/>
            <a:ext cx="3143250"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257D70"/>
                </a:solidFill>
                <a:latin typeface="Arial" pitchFamily="34" charset="0"/>
                <a:ea typeface="Arial" pitchFamily="34" charset="-122"/>
                <a:cs typeface="Arial" pitchFamily="34" charset="-120"/>
              </a:rPr>
              <a:t>Stopwatch</a:t>
            </a:r>
            <a:endParaRPr lang="en-US" sz="2700" dirty="0"/>
          </a:p>
        </p:txBody>
      </p:sp>
      <p:sp>
        <p:nvSpPr>
          <p:cNvPr id="15" name="Text 13"/>
          <p:cNvSpPr/>
          <p:nvPr/>
        </p:nvSpPr>
        <p:spPr>
          <a:xfrm>
            <a:off x="5181600" y="4681538"/>
            <a:ext cx="5151492" cy="452438"/>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3C4450"/>
                </a:solidFill>
                <a:latin typeface="Arial" pitchFamily="34" charset="0"/>
                <a:ea typeface="Arial" pitchFamily="34" charset="-122"/>
                <a:cs typeface="Arial" pitchFamily="34" charset="-120"/>
              </a:rPr>
              <a:t>Bấm giờ chính xác đến centi-giây</a:t>
            </a:r>
            <a:endParaRPr lang="en-US" sz="2250" dirty="0"/>
          </a:p>
        </p:txBody>
      </p:sp>
      <p:sp>
        <p:nvSpPr>
          <p:cNvPr id="16" name="Shape 14"/>
          <p:cNvSpPr/>
          <p:nvPr/>
        </p:nvSpPr>
        <p:spPr>
          <a:xfrm>
            <a:off x="952500" y="5667375"/>
            <a:ext cx="16383000" cy="9525"/>
          </a:xfrm>
          <a:prstGeom prst="rect">
            <a:avLst/>
          </a:prstGeom>
          <a:solidFill>
            <a:srgbClr val="DCE7E3"/>
          </a:solidFill>
          <a:ln/>
        </p:spPr>
      </p:sp>
      <p:sp>
        <p:nvSpPr>
          <p:cNvPr id="17" name="Text 15"/>
          <p:cNvSpPr/>
          <p:nvPr/>
        </p:nvSpPr>
        <p:spPr>
          <a:xfrm>
            <a:off x="952500" y="6115050"/>
            <a:ext cx="1641530" cy="304800"/>
          </a:xfrm>
          <a:prstGeom prst="rect">
            <a:avLst/>
          </a:prstGeom>
          <a:noFill/>
          <a:ln/>
        </p:spPr>
        <p:txBody>
          <a:bodyPr wrap="none" lIns="25400" tIns="25400" rIns="25400" bIns="25400" rtlCol="0" anchor="t">
            <a:normAutofit/>
          </a:bodyPr>
          <a:lstStyle/>
          <a:p>
            <a:pPr algn="l" indent="0" marL="0">
              <a:buNone/>
            </a:pPr>
            <a:r>
              <a:rPr lang="en-US" sz="1800" b="1" spc="150" kern="0" dirty="0">
                <a:solidFill>
                  <a:srgbClr val="C85C42"/>
                </a:solidFill>
                <a:latin typeface="Arial" pitchFamily="34" charset="0"/>
                <a:ea typeface="Arial" pitchFamily="34" charset="-122"/>
                <a:cs typeface="Arial" pitchFamily="34" charset="-120"/>
              </a:rPr>
              <a:t>ĐIỂM CỘNG</a:t>
            </a:r>
            <a:endParaRPr lang="en-US" sz="1800" dirty="0"/>
          </a:p>
        </p:txBody>
      </p:sp>
      <p:sp>
        <p:nvSpPr>
          <p:cNvPr id="18" name="Text 16"/>
          <p:cNvSpPr/>
          <p:nvPr/>
        </p:nvSpPr>
        <p:spPr>
          <a:xfrm>
            <a:off x="2673400" y="6019800"/>
            <a:ext cx="14241214" cy="461963"/>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3C4450"/>
                </a:solidFill>
                <a:latin typeface="Arial" pitchFamily="34" charset="0"/>
                <a:ea typeface="Arial" pitchFamily="34" charset="-122"/>
                <a:cs typeface="Arial" pitchFamily="34" charset="-120"/>
              </a:rPr>
              <a:t>Chuyển tab </a:t>
            </a:r>
            <a:pPr algn="l" indent="0" marL="0">
              <a:lnSpc>
                <a:spcPct val="131818"/>
              </a:lnSpc>
              <a:buNone/>
            </a:pPr>
            <a:r>
              <a:rPr lang="en-US" sz="2175" b="1" dirty="0">
                <a:solidFill>
                  <a:srgbClr val="3C4450"/>
                </a:solidFill>
                <a:latin typeface="Arial" pitchFamily="34" charset="0"/>
                <a:ea typeface="Arial" pitchFamily="34" charset="-122"/>
                <a:cs typeface="Arial" pitchFamily="34" charset="-120"/>
              </a:rPr>
              <a:t>không mất trạng thái </a:t>
            </a:r>
            <a:pPr algn="l" indent="0" marL="0">
              <a:lnSpc>
                <a:spcPct val="131818"/>
              </a:lnSpc>
              <a:buNone/>
            </a:pPr>
            <a:r>
              <a:rPr lang="en-US" sz="2175" dirty="0">
                <a:solidFill>
                  <a:srgbClr val="3C4450"/>
                </a:solidFill>
                <a:latin typeface="Arial" pitchFamily="34" charset="0"/>
                <a:ea typeface="Arial" pitchFamily="34" charset="-122"/>
                <a:cs typeface="Arial" pitchFamily="34" charset="-120"/>
              </a:rPr>
              <a:t>— Timer và Stopwatch vẫn chạy tiếp khi bạn quay sang tab khác.</a:t>
            </a:r>
            <a:endParaRPr lang="en-US" sz="21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9940528"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05 · ALARM</a:t>
            </a:r>
            <a:endParaRPr lang="en-US" sz="1950" dirty="0"/>
          </a:p>
        </p:txBody>
      </p:sp>
      <p:sp>
        <p:nvSpPr>
          <p:cNvPr id="3" name="Text 1"/>
          <p:cNvSpPr/>
          <p:nvPr/>
        </p:nvSpPr>
        <p:spPr>
          <a:xfrm>
            <a:off x="952500" y="1266825"/>
            <a:ext cx="9940528"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CRUD &amp; Danh sách báo thức</a:t>
            </a:r>
            <a:endParaRPr lang="en-US" sz="4500" dirty="0"/>
          </a:p>
        </p:txBody>
      </p:sp>
      <p:sp>
        <p:nvSpPr>
          <p:cNvPr id="4" name="Shape 2"/>
          <p:cNvSpPr/>
          <p:nvPr/>
        </p:nvSpPr>
        <p:spPr>
          <a:xfrm>
            <a:off x="952500" y="2524125"/>
            <a:ext cx="133350" cy="133350"/>
          </a:xfrm>
          <a:prstGeom prst="ellipse">
            <a:avLst/>
          </a:prstGeom>
          <a:solidFill>
            <a:srgbClr val="257D70"/>
          </a:solidFill>
          <a:ln/>
        </p:spPr>
      </p:sp>
      <p:sp>
        <p:nvSpPr>
          <p:cNvPr id="5" name="Text 3"/>
          <p:cNvSpPr/>
          <p:nvPr/>
        </p:nvSpPr>
        <p:spPr>
          <a:xfrm>
            <a:off x="1295400" y="2390775"/>
            <a:ext cx="8954762" cy="933450"/>
          </a:xfrm>
          <a:prstGeom prst="rect">
            <a:avLst/>
          </a:prstGeom>
          <a:noFill/>
          <a:ln/>
        </p:spPr>
        <p:txBody>
          <a:bodyPr wrap="square" lIns="25400" tIns="25400" rIns="25400" bIns="25400" rtlCol="0" anchor="t">
            <a:normAutofit/>
          </a:bodyPr>
          <a:lstStyle/>
          <a:p>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Đặt bao nhiêu báo thức cũng được — </a:t>
            </a:r>
            <a:pPr algn="l" indent="0" marL="0">
              <a:lnSpc>
                <a:spcPct val="129167"/>
              </a:lnSpc>
              <a:buNone/>
            </a:pPr>
            <a:r>
              <a:rPr lang="en-US" sz="2325" b="1" dirty="0">
                <a:solidFill>
                  <a:srgbClr val="171A21"/>
                </a:solidFill>
                <a:latin typeface="Arial" pitchFamily="34" charset="0"/>
                <a:ea typeface="Arial" pitchFamily="34" charset="-122"/>
                <a:cs typeface="Arial" pitchFamily="34" charset="-120"/>
              </a:rPr>
              <a:t>thêm, sửa, xóa </a:t>
            </a:r>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nhanh, bật / tắt bằng một cú chạm</a:t>
            </a:r>
            <a:endParaRPr lang="en-US" sz="2325" dirty="0"/>
          </a:p>
        </p:txBody>
      </p:sp>
      <p:sp>
        <p:nvSpPr>
          <p:cNvPr id="6" name="Shape 4"/>
          <p:cNvSpPr/>
          <p:nvPr/>
        </p:nvSpPr>
        <p:spPr>
          <a:xfrm>
            <a:off x="952500" y="3705225"/>
            <a:ext cx="133350" cy="133350"/>
          </a:xfrm>
          <a:prstGeom prst="ellipse">
            <a:avLst/>
          </a:prstGeom>
          <a:solidFill>
            <a:srgbClr val="257D70"/>
          </a:solidFill>
          <a:ln/>
        </p:spPr>
      </p:sp>
      <p:sp>
        <p:nvSpPr>
          <p:cNvPr id="7" name="Text 5"/>
          <p:cNvSpPr/>
          <p:nvPr/>
        </p:nvSpPr>
        <p:spPr>
          <a:xfrm>
            <a:off x="1295400" y="3571875"/>
            <a:ext cx="8954762" cy="933450"/>
          </a:xfrm>
          <a:prstGeom prst="rect">
            <a:avLst/>
          </a:prstGeom>
          <a:noFill/>
          <a:ln/>
        </p:spPr>
        <p:txBody>
          <a:bodyPr wrap="square" lIns="25400" tIns="25400" rIns="25400" bIns="25400" rtlCol="0" anchor="t">
            <a:normAutofit/>
          </a:bodyPr>
          <a:lstStyle/>
          <a:p>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Mỗi báo thức có </a:t>
            </a:r>
            <a:pPr algn="l" indent="0" marL="0">
              <a:lnSpc>
                <a:spcPct val="129167"/>
              </a:lnSpc>
              <a:buNone/>
            </a:pPr>
            <a:r>
              <a:rPr lang="en-US" sz="2325" b="1" dirty="0">
                <a:solidFill>
                  <a:srgbClr val="171A21"/>
                </a:solidFill>
                <a:latin typeface="Arial" pitchFamily="34" charset="0"/>
                <a:ea typeface="Arial" pitchFamily="34" charset="-122"/>
                <a:cs typeface="Arial" pitchFamily="34" charset="-120"/>
              </a:rPr>
              <a:t>tên riêng </a:t>
            </a:r>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 "Đi học", "Uống thuốc" — nhìn là biết ngay</a:t>
            </a:r>
            <a:endParaRPr lang="en-US" sz="2325" dirty="0"/>
          </a:p>
        </p:txBody>
      </p:sp>
      <p:sp>
        <p:nvSpPr>
          <p:cNvPr id="8" name="Shape 6"/>
          <p:cNvSpPr/>
          <p:nvPr/>
        </p:nvSpPr>
        <p:spPr>
          <a:xfrm>
            <a:off x="952500" y="4886325"/>
            <a:ext cx="133350" cy="133350"/>
          </a:xfrm>
          <a:prstGeom prst="ellipse">
            <a:avLst/>
          </a:prstGeom>
          <a:solidFill>
            <a:srgbClr val="257D70"/>
          </a:solidFill>
          <a:ln/>
        </p:spPr>
      </p:sp>
      <p:sp>
        <p:nvSpPr>
          <p:cNvPr id="9" name="Text 7"/>
          <p:cNvSpPr/>
          <p:nvPr/>
        </p:nvSpPr>
        <p:spPr>
          <a:xfrm>
            <a:off x="1295400" y="4752975"/>
            <a:ext cx="8954762" cy="933450"/>
          </a:xfrm>
          <a:prstGeom prst="rect">
            <a:avLst/>
          </a:prstGeom>
          <a:noFill/>
          <a:ln/>
        </p:spPr>
        <p:txBody>
          <a:bodyPr wrap="square" lIns="25400" tIns="25400" rIns="25400" bIns="25400" rtlCol="0" anchor="t">
            <a:normAutofit/>
          </a:bodyPr>
          <a:lstStyle/>
          <a:p>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Banner </a:t>
            </a:r>
            <a:pPr algn="l" indent="0" marL="0">
              <a:lnSpc>
                <a:spcPct val="129167"/>
              </a:lnSpc>
              <a:buNone/>
            </a:pPr>
            <a:r>
              <a:rPr lang="en-US" sz="2325" b="1" dirty="0">
                <a:solidFill>
                  <a:srgbClr val="171A21"/>
                </a:solidFill>
                <a:latin typeface="Arial" pitchFamily="34" charset="0"/>
                <a:ea typeface="Arial" pitchFamily="34" charset="-122"/>
                <a:cs typeface="Arial" pitchFamily="34" charset="-120"/>
              </a:rPr>
              <a:t>Next Alarm </a:t>
            </a:r>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ngay đầu màn hình: chuông kế tiếp là mấy giờ, còn bao lâu</a:t>
            </a:r>
            <a:endParaRPr lang="en-US" sz="2325" dirty="0"/>
          </a:p>
        </p:txBody>
      </p:sp>
      <p:sp>
        <p:nvSpPr>
          <p:cNvPr id="10" name="Shape 8"/>
          <p:cNvSpPr/>
          <p:nvPr/>
        </p:nvSpPr>
        <p:spPr>
          <a:xfrm>
            <a:off x="952500" y="6067425"/>
            <a:ext cx="133350" cy="133350"/>
          </a:xfrm>
          <a:prstGeom prst="ellipse">
            <a:avLst/>
          </a:prstGeom>
          <a:solidFill>
            <a:srgbClr val="257D70"/>
          </a:solidFill>
          <a:ln/>
        </p:spPr>
      </p:sp>
      <p:sp>
        <p:nvSpPr>
          <p:cNvPr id="11" name="Text 9"/>
          <p:cNvSpPr/>
          <p:nvPr/>
        </p:nvSpPr>
        <p:spPr>
          <a:xfrm>
            <a:off x="1295400" y="5934075"/>
            <a:ext cx="8551932" cy="490538"/>
          </a:xfrm>
          <a:prstGeom prst="rect">
            <a:avLst/>
          </a:prstGeom>
          <a:noFill/>
          <a:ln/>
        </p:spPr>
        <p:txBody>
          <a:bodyPr wrap="square" lIns="25400" tIns="25400" rIns="25400" bIns="25400" rtlCol="0" anchor="t">
            <a:normAutofit/>
          </a:bodyPr>
          <a:lstStyle/>
          <a:p>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Chọn giờ bằng </a:t>
            </a:r>
            <a:pPr algn="l" indent="0" marL="0">
              <a:lnSpc>
                <a:spcPct val="129167"/>
              </a:lnSpc>
              <a:buNone/>
            </a:pPr>
            <a:r>
              <a:rPr lang="en-US" sz="2325" b="1" dirty="0">
                <a:solidFill>
                  <a:srgbClr val="171A21"/>
                </a:solidFill>
                <a:latin typeface="Arial" pitchFamily="34" charset="0"/>
                <a:ea typeface="Arial" pitchFamily="34" charset="-122"/>
                <a:cs typeface="Arial" pitchFamily="34" charset="-120"/>
              </a:rPr>
              <a:t>bánh xe cuộn </a:t>
            </a:r>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quen tay, không cần gõ số</a:t>
            </a:r>
            <a:endParaRPr lang="en-US" sz="2325" dirty="0"/>
          </a:p>
        </p:txBody>
      </p:sp>
      <p:sp>
        <p:nvSpPr>
          <p:cNvPr id="12" name="Shape 10"/>
          <p:cNvSpPr/>
          <p:nvPr/>
        </p:nvSpPr>
        <p:spPr>
          <a:xfrm>
            <a:off x="11690747" y="2152650"/>
            <a:ext cx="4610100" cy="6076950"/>
          </a:xfrm>
          <a:prstGeom prst="roundRect">
            <a:avLst>
              <a:gd name="adj" fmla="val 9091"/>
            </a:avLst>
          </a:prstGeom>
          <a:solidFill>
            <a:srgbClr val="F1FAF7"/>
          </a:solidFill>
          <a:ln w="9525">
            <a:solidFill>
              <a:srgbClr val="DCE7E3"/>
            </a:solidFill>
            <a:prstDash val="solid"/>
          </a:ln>
          <a:effectLst>
            <a:outerShdw sx="100000" sy="100000" kx="0" ky="0" algn="bl" rotWithShape="0" blurRad="571500" dist="285750" dir="5400000">
              <a:srgbClr val="08131F">
                <a:alpha val="14000"/>
              </a:srgbClr>
            </a:outerShdw>
          </a:effectLst>
        </p:spPr>
      </p:sp>
      <p:sp>
        <p:nvSpPr>
          <p:cNvPr id="13" name="Shape 11"/>
          <p:cNvSpPr/>
          <p:nvPr/>
        </p:nvSpPr>
        <p:spPr>
          <a:xfrm>
            <a:off x="11947922" y="2409825"/>
            <a:ext cx="4095750" cy="1676400"/>
          </a:xfrm>
          <a:prstGeom prst="roundRect">
            <a:avLst>
              <a:gd name="adj" fmla="val 14773"/>
            </a:avLst>
          </a:prstGeom>
          <a:gradFill rotWithShape="1">
            <a:gsLst>
              <a:gs pos="0">
                <a:srgbClr val="257D70">
                  <a:alpha val="100000"/>
                </a:srgbClr>
              </a:gs>
              <a:gs pos="100000">
                <a:srgbClr val="0F4C43">
                  <a:alpha val="100000"/>
                </a:srgbClr>
              </a:gs>
            </a:gsLst>
            <a:lin ang="1800000" scaled="0"/>
          </a:gradFill>
          <a:ln/>
        </p:spPr>
      </p:sp>
      <p:sp>
        <p:nvSpPr>
          <p:cNvPr id="14" name="Text 12"/>
          <p:cNvSpPr/>
          <p:nvPr/>
        </p:nvSpPr>
        <p:spPr>
          <a:xfrm>
            <a:off x="12233672" y="2676525"/>
            <a:ext cx="3876675" cy="30480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FFFFFF">
                    <a:alpha val="85000"/>
                  </a:srgbClr>
                </a:solidFill>
                <a:latin typeface="Arial" pitchFamily="34" charset="0"/>
                <a:ea typeface="Arial" pitchFamily="34" charset="-122"/>
                <a:cs typeface="Arial" pitchFamily="34" charset="-120"/>
              </a:rPr>
              <a:t>NEXT ALARM</a:t>
            </a:r>
            <a:endParaRPr lang="en-US" sz="1800" dirty="0"/>
          </a:p>
        </p:txBody>
      </p:sp>
      <p:sp>
        <p:nvSpPr>
          <p:cNvPr id="15" name="Text 13"/>
          <p:cNvSpPr/>
          <p:nvPr/>
        </p:nvSpPr>
        <p:spPr>
          <a:xfrm>
            <a:off x="12233672" y="3000375"/>
            <a:ext cx="3876675" cy="495300"/>
          </a:xfrm>
          <a:prstGeom prst="rect">
            <a:avLst/>
          </a:prstGeom>
          <a:noFill/>
          <a:ln/>
        </p:spPr>
        <p:txBody>
          <a:bodyPr wrap="square" lIns="25400" tIns="25400" rIns="25400" bIns="25400" rtlCol="0" anchor="t">
            <a:normAutofit/>
          </a:bodyPr>
          <a:lstStyle/>
          <a:p>
            <a:pPr algn="l" indent="0" marL="0">
              <a:lnSpc>
                <a:spcPct val="70588"/>
              </a:lnSpc>
              <a:buNone/>
            </a:pPr>
            <a:r>
              <a:rPr lang="en-US" sz="3600" b="1" dirty="0">
                <a:solidFill>
                  <a:srgbClr val="FFFFFF"/>
                </a:solidFill>
                <a:latin typeface="Arial" pitchFamily="34" charset="0"/>
                <a:ea typeface="Arial" pitchFamily="34" charset="-122"/>
                <a:cs typeface="Arial" pitchFamily="34" charset="-120"/>
              </a:rPr>
              <a:t>06:30</a:t>
            </a:r>
            <a:endParaRPr lang="en-US" sz="3600" dirty="0"/>
          </a:p>
        </p:txBody>
      </p:sp>
      <p:sp>
        <p:nvSpPr>
          <p:cNvPr id="16" name="Text 14"/>
          <p:cNvSpPr/>
          <p:nvPr/>
        </p:nvSpPr>
        <p:spPr>
          <a:xfrm>
            <a:off x="12233672" y="3514725"/>
            <a:ext cx="3876675" cy="342900"/>
          </a:xfrm>
          <a:prstGeom prst="rect">
            <a:avLst/>
          </a:prstGeom>
          <a:noFill/>
          <a:ln/>
        </p:spPr>
        <p:txBody>
          <a:bodyPr wrap="square" lIns="25400" tIns="25400" rIns="25400" bIns="25400" rtlCol="0" anchor="t">
            <a:normAutofit/>
          </a:bodyPr>
          <a:lstStyle/>
          <a:p>
            <a:pPr algn="l" indent="0" marL="0">
              <a:buNone/>
            </a:pPr>
            <a:r>
              <a:rPr lang="en-US" sz="1875" dirty="0">
                <a:solidFill>
                  <a:srgbClr val="FFFFFF">
                    <a:alpha val="90000"/>
                  </a:srgbClr>
                </a:solidFill>
                <a:latin typeface="Arial" pitchFamily="34" charset="0"/>
                <a:ea typeface="Arial" pitchFamily="34" charset="-122"/>
                <a:cs typeface="Arial" pitchFamily="34" charset="-120"/>
              </a:rPr>
              <a:t>Đi học · còn 7 giờ 12 phút</a:t>
            </a:r>
            <a:endParaRPr lang="en-US" sz="1875" dirty="0"/>
          </a:p>
        </p:txBody>
      </p:sp>
      <p:sp>
        <p:nvSpPr>
          <p:cNvPr id="17" name="Shape 15"/>
          <p:cNvSpPr/>
          <p:nvPr/>
        </p:nvSpPr>
        <p:spPr>
          <a:xfrm>
            <a:off x="11947922" y="4257675"/>
            <a:ext cx="4095750" cy="1123950"/>
          </a:xfrm>
          <a:prstGeom prst="roundRect">
            <a:avLst>
              <a:gd name="adj" fmla="val 18644"/>
            </a:avLst>
          </a:prstGeom>
          <a:solidFill>
            <a:srgbClr val="FFFFFF"/>
          </a:solidFill>
          <a:ln/>
        </p:spPr>
      </p:sp>
      <p:sp>
        <p:nvSpPr>
          <p:cNvPr id="18" name="Text 16"/>
          <p:cNvSpPr/>
          <p:nvPr/>
        </p:nvSpPr>
        <p:spPr>
          <a:xfrm>
            <a:off x="12195572" y="4467225"/>
            <a:ext cx="1892990"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171A21"/>
                </a:solidFill>
                <a:latin typeface="Arial" pitchFamily="34" charset="0"/>
                <a:ea typeface="Arial" pitchFamily="34" charset="-122"/>
                <a:cs typeface="Arial" pitchFamily="34" charset="-120"/>
              </a:rPr>
              <a:t>06:30</a:t>
            </a:r>
            <a:endParaRPr lang="en-US" sz="2700" dirty="0"/>
          </a:p>
        </p:txBody>
      </p:sp>
      <p:sp>
        <p:nvSpPr>
          <p:cNvPr id="19" name="Text 17"/>
          <p:cNvSpPr/>
          <p:nvPr/>
        </p:nvSpPr>
        <p:spPr>
          <a:xfrm>
            <a:off x="12195572" y="4886325"/>
            <a:ext cx="1892990" cy="323850"/>
          </a:xfrm>
          <a:prstGeom prst="rect">
            <a:avLst/>
          </a:prstGeom>
          <a:noFill/>
          <a:ln/>
        </p:spPr>
        <p:txBody>
          <a:bodyPr wrap="square" lIns="25400" tIns="25400" rIns="25400" bIns="25400" rtlCol="0" anchor="t">
            <a:normAutofit/>
          </a:bodyPr>
          <a:lstStyle/>
          <a:p>
            <a:pPr algn="l" indent="0" marL="0">
              <a:buNone/>
            </a:pPr>
            <a:r>
              <a:rPr lang="en-US" sz="1800" dirty="0">
                <a:solidFill>
                  <a:srgbClr val="5A6472"/>
                </a:solidFill>
                <a:latin typeface="Arial" pitchFamily="34" charset="0"/>
                <a:ea typeface="Arial" pitchFamily="34" charset="-122"/>
                <a:cs typeface="Arial" pitchFamily="34" charset="-120"/>
              </a:rPr>
              <a:t>Đi học · T2 – T6</a:t>
            </a:r>
            <a:endParaRPr lang="en-US" sz="1800" dirty="0"/>
          </a:p>
        </p:txBody>
      </p:sp>
      <p:sp>
        <p:nvSpPr>
          <p:cNvPr id="20" name="Shape 18"/>
          <p:cNvSpPr/>
          <p:nvPr/>
        </p:nvSpPr>
        <p:spPr>
          <a:xfrm>
            <a:off x="15186422" y="4648200"/>
            <a:ext cx="609600" cy="342900"/>
          </a:xfrm>
          <a:prstGeom prst="roundRect">
            <a:avLst>
              <a:gd name="adj" fmla="val 50000"/>
            </a:avLst>
          </a:prstGeom>
          <a:solidFill>
            <a:srgbClr val="257D70"/>
          </a:solidFill>
          <a:ln/>
        </p:spPr>
      </p:sp>
      <p:sp>
        <p:nvSpPr>
          <p:cNvPr id="21" name="Shape 19"/>
          <p:cNvSpPr/>
          <p:nvPr/>
        </p:nvSpPr>
        <p:spPr>
          <a:xfrm>
            <a:off x="15491222" y="4686300"/>
            <a:ext cx="266700" cy="266700"/>
          </a:xfrm>
          <a:prstGeom prst="ellipse">
            <a:avLst/>
          </a:prstGeom>
          <a:solidFill>
            <a:srgbClr val="FFFFFF"/>
          </a:solidFill>
          <a:ln/>
        </p:spPr>
      </p:sp>
      <p:sp>
        <p:nvSpPr>
          <p:cNvPr id="22" name="Shape 20"/>
          <p:cNvSpPr/>
          <p:nvPr/>
        </p:nvSpPr>
        <p:spPr>
          <a:xfrm>
            <a:off x="11947922" y="5553075"/>
            <a:ext cx="4095750" cy="1123950"/>
          </a:xfrm>
          <a:prstGeom prst="roundRect">
            <a:avLst>
              <a:gd name="adj" fmla="val 18644"/>
            </a:avLst>
          </a:prstGeom>
          <a:solidFill>
            <a:srgbClr val="FFFFFF"/>
          </a:solidFill>
          <a:ln/>
        </p:spPr>
      </p:sp>
      <p:sp>
        <p:nvSpPr>
          <p:cNvPr id="23" name="Text 21"/>
          <p:cNvSpPr/>
          <p:nvPr/>
        </p:nvSpPr>
        <p:spPr>
          <a:xfrm>
            <a:off x="12195572" y="5762625"/>
            <a:ext cx="2194381"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171A21"/>
                </a:solidFill>
                <a:latin typeface="Arial" pitchFamily="34" charset="0"/>
                <a:ea typeface="Arial" pitchFamily="34" charset="-122"/>
                <a:cs typeface="Arial" pitchFamily="34" charset="-120"/>
              </a:rPr>
              <a:t>07:15</a:t>
            </a:r>
            <a:endParaRPr lang="en-US" sz="2700" dirty="0"/>
          </a:p>
        </p:txBody>
      </p:sp>
      <p:sp>
        <p:nvSpPr>
          <p:cNvPr id="24" name="Text 22"/>
          <p:cNvSpPr/>
          <p:nvPr/>
        </p:nvSpPr>
        <p:spPr>
          <a:xfrm>
            <a:off x="12195572" y="6181725"/>
            <a:ext cx="2194381" cy="323850"/>
          </a:xfrm>
          <a:prstGeom prst="rect">
            <a:avLst/>
          </a:prstGeom>
          <a:noFill/>
          <a:ln/>
        </p:spPr>
        <p:txBody>
          <a:bodyPr wrap="square" lIns="25400" tIns="25400" rIns="25400" bIns="25400" rtlCol="0" anchor="t">
            <a:normAutofit/>
          </a:bodyPr>
          <a:lstStyle/>
          <a:p>
            <a:pPr algn="l" indent="0" marL="0">
              <a:buNone/>
            </a:pPr>
            <a:r>
              <a:rPr lang="en-US" sz="1800" dirty="0">
                <a:solidFill>
                  <a:srgbClr val="5A6472"/>
                </a:solidFill>
                <a:latin typeface="Arial" pitchFamily="34" charset="0"/>
                <a:ea typeface="Arial" pitchFamily="34" charset="-122"/>
                <a:cs typeface="Arial" pitchFamily="34" charset="-120"/>
              </a:rPr>
              <a:t>Cuối tuần · T7, CN</a:t>
            </a:r>
            <a:endParaRPr lang="en-US" sz="1800" dirty="0"/>
          </a:p>
        </p:txBody>
      </p:sp>
      <p:sp>
        <p:nvSpPr>
          <p:cNvPr id="25" name="Shape 23"/>
          <p:cNvSpPr/>
          <p:nvPr/>
        </p:nvSpPr>
        <p:spPr>
          <a:xfrm>
            <a:off x="15186422" y="5943600"/>
            <a:ext cx="609600" cy="342900"/>
          </a:xfrm>
          <a:prstGeom prst="roundRect">
            <a:avLst>
              <a:gd name="adj" fmla="val 50000"/>
            </a:avLst>
          </a:prstGeom>
          <a:solidFill>
            <a:srgbClr val="257D70"/>
          </a:solidFill>
          <a:ln/>
        </p:spPr>
      </p:sp>
      <p:sp>
        <p:nvSpPr>
          <p:cNvPr id="26" name="Shape 24"/>
          <p:cNvSpPr/>
          <p:nvPr/>
        </p:nvSpPr>
        <p:spPr>
          <a:xfrm>
            <a:off x="15491222" y="5981700"/>
            <a:ext cx="266700" cy="266700"/>
          </a:xfrm>
          <a:prstGeom prst="ellipse">
            <a:avLst/>
          </a:prstGeom>
          <a:solidFill>
            <a:srgbClr val="FFFFFF"/>
          </a:solidFill>
          <a:ln/>
        </p:spPr>
      </p:sp>
      <p:sp>
        <p:nvSpPr>
          <p:cNvPr id="27" name="Shape 25"/>
          <p:cNvSpPr/>
          <p:nvPr/>
        </p:nvSpPr>
        <p:spPr>
          <a:xfrm>
            <a:off x="11947922" y="6848475"/>
            <a:ext cx="4095750" cy="1123950"/>
          </a:xfrm>
          <a:prstGeom prst="roundRect">
            <a:avLst>
              <a:gd name="adj" fmla="val 18644"/>
            </a:avLst>
          </a:prstGeom>
          <a:solidFill>
            <a:srgbClr val="FFFFFF">
              <a:alpha val="60000"/>
            </a:srgbClr>
          </a:solidFill>
          <a:ln/>
        </p:spPr>
      </p:sp>
      <p:sp>
        <p:nvSpPr>
          <p:cNvPr id="28" name="Text 26"/>
          <p:cNvSpPr/>
          <p:nvPr/>
        </p:nvSpPr>
        <p:spPr>
          <a:xfrm>
            <a:off x="12195572" y="7058025"/>
            <a:ext cx="2520657"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171A21">
                    <a:alpha val="60000"/>
                  </a:srgbClr>
                </a:solidFill>
                <a:latin typeface="Arial" pitchFamily="34" charset="0"/>
                <a:ea typeface="Arial" pitchFamily="34" charset="-122"/>
                <a:cs typeface="Arial" pitchFamily="34" charset="-120"/>
              </a:rPr>
              <a:t>21:00</a:t>
            </a:r>
            <a:endParaRPr lang="en-US" sz="2700" dirty="0"/>
          </a:p>
        </p:txBody>
      </p:sp>
      <p:sp>
        <p:nvSpPr>
          <p:cNvPr id="29" name="Text 27"/>
          <p:cNvSpPr/>
          <p:nvPr/>
        </p:nvSpPr>
        <p:spPr>
          <a:xfrm>
            <a:off x="12195572" y="7477125"/>
            <a:ext cx="2520657" cy="323850"/>
          </a:xfrm>
          <a:prstGeom prst="rect">
            <a:avLst/>
          </a:prstGeom>
          <a:noFill/>
          <a:ln/>
        </p:spPr>
        <p:txBody>
          <a:bodyPr wrap="square" lIns="25400" tIns="25400" rIns="25400" bIns="25400" rtlCol="0" anchor="t">
            <a:normAutofit/>
          </a:bodyPr>
          <a:lstStyle/>
          <a:p>
            <a:pPr algn="l" indent="0" marL="0">
              <a:buNone/>
            </a:pPr>
            <a:r>
              <a:rPr lang="en-US" sz="1800" dirty="0">
                <a:solidFill>
                  <a:srgbClr val="5A6472">
                    <a:alpha val="60000"/>
                  </a:srgbClr>
                </a:solidFill>
                <a:latin typeface="Arial" pitchFamily="34" charset="0"/>
                <a:ea typeface="Arial" pitchFamily="34" charset="-122"/>
                <a:cs typeface="Arial" pitchFamily="34" charset="-120"/>
              </a:rPr>
              <a:t>Uống thuốc · Một lần</a:t>
            </a:r>
            <a:endParaRPr lang="en-US" sz="1800" dirty="0"/>
          </a:p>
        </p:txBody>
      </p:sp>
      <p:sp>
        <p:nvSpPr>
          <p:cNvPr id="30" name="Shape 28"/>
          <p:cNvSpPr/>
          <p:nvPr/>
        </p:nvSpPr>
        <p:spPr>
          <a:xfrm>
            <a:off x="15186422" y="7239000"/>
            <a:ext cx="609600" cy="342900"/>
          </a:xfrm>
          <a:prstGeom prst="roundRect">
            <a:avLst>
              <a:gd name="adj" fmla="val 50000"/>
            </a:avLst>
          </a:prstGeom>
          <a:solidFill>
            <a:srgbClr val="C9D4D0">
              <a:alpha val="60000"/>
            </a:srgbClr>
          </a:solidFill>
          <a:ln/>
        </p:spPr>
      </p:sp>
      <p:sp>
        <p:nvSpPr>
          <p:cNvPr id="31" name="Shape 29"/>
          <p:cNvSpPr/>
          <p:nvPr/>
        </p:nvSpPr>
        <p:spPr>
          <a:xfrm>
            <a:off x="15224522" y="7277100"/>
            <a:ext cx="266700" cy="266700"/>
          </a:xfrm>
          <a:prstGeom prst="ellipse">
            <a:avLst/>
          </a:prstGeom>
          <a:solidFill>
            <a:srgbClr val="FFFFFF">
              <a:alpha val="60000"/>
            </a:srgbClr>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66875" y="2014538"/>
            <a:ext cx="4857750" cy="6353175"/>
          </a:xfrm>
          <a:prstGeom prst="roundRect">
            <a:avLst>
              <a:gd name="adj" fmla="val 6275"/>
            </a:avLst>
          </a:prstGeom>
          <a:solidFill>
            <a:srgbClr val="FFFFFF"/>
          </a:solidFill>
          <a:ln w="9525">
            <a:solidFill>
              <a:srgbClr val="DCE7E3"/>
            </a:solidFill>
            <a:prstDash val="solid"/>
          </a:ln>
          <a:effectLst>
            <a:outerShdw sx="100000" sy="100000" kx="0" ky="0" algn="bl" rotWithShape="0" blurRad="571500" dist="285750" dir="5400000">
              <a:srgbClr val="08131F">
                <a:alpha val="14000"/>
              </a:srgbClr>
            </a:outerShdw>
          </a:effectLst>
        </p:spPr>
      </p:sp>
      <p:sp>
        <p:nvSpPr>
          <p:cNvPr id="3" name="Text 1"/>
          <p:cNvSpPr/>
          <p:nvPr/>
        </p:nvSpPr>
        <p:spPr>
          <a:xfrm>
            <a:off x="2000250" y="2347913"/>
            <a:ext cx="4610100" cy="352425"/>
          </a:xfrm>
          <a:prstGeom prst="rect">
            <a:avLst/>
          </a:prstGeom>
          <a:noFill/>
          <a:ln/>
        </p:spPr>
        <p:txBody>
          <a:bodyPr wrap="square" lIns="25400" tIns="25400" rIns="25400" bIns="25400" rtlCol="0" anchor="t">
            <a:normAutofit/>
          </a:bodyPr>
          <a:lstStyle/>
          <a:p>
            <a:pPr algn="l" indent="0" marL="0">
              <a:buNone/>
            </a:pPr>
            <a:r>
              <a:rPr lang="en-US" sz="2175" b="1" dirty="0">
                <a:solidFill>
                  <a:srgbClr val="171A21"/>
                </a:solidFill>
                <a:latin typeface="Arial" pitchFamily="34" charset="0"/>
                <a:ea typeface="Arial" pitchFamily="34" charset="-122"/>
                <a:cs typeface="Arial" pitchFamily="34" charset="-120"/>
              </a:rPr>
              <a:t>Chọn nhạc chuông</a:t>
            </a:r>
            <a:endParaRPr lang="en-US" sz="2175" dirty="0"/>
          </a:p>
        </p:txBody>
      </p:sp>
      <p:sp>
        <p:nvSpPr>
          <p:cNvPr id="4" name="Shape 2"/>
          <p:cNvSpPr/>
          <p:nvPr/>
        </p:nvSpPr>
        <p:spPr>
          <a:xfrm>
            <a:off x="2000250" y="2852738"/>
            <a:ext cx="4191000" cy="800100"/>
          </a:xfrm>
          <a:prstGeom prst="roundRect">
            <a:avLst>
              <a:gd name="adj" fmla="val 21429"/>
            </a:avLst>
          </a:prstGeom>
          <a:solidFill>
            <a:srgbClr val="F1FAF7"/>
          </a:solidFill>
          <a:ln w="19050">
            <a:solidFill>
              <a:srgbClr val="257D70"/>
            </a:solidFill>
            <a:prstDash val="solid"/>
          </a:ln>
        </p:spPr>
      </p:sp>
      <p:sp>
        <p:nvSpPr>
          <p:cNvPr id="5" name="Shape 3"/>
          <p:cNvSpPr/>
          <p:nvPr/>
        </p:nvSpPr>
        <p:spPr>
          <a:xfrm>
            <a:off x="2228850" y="3043238"/>
            <a:ext cx="419100" cy="419100"/>
          </a:xfrm>
          <a:prstGeom prst="ellipse">
            <a:avLst/>
          </a:prstGeom>
          <a:solidFill>
            <a:srgbClr val="257D70"/>
          </a:solidFill>
          <a:ln/>
        </p:spPr>
      </p:sp>
      <p:sp>
        <p:nvSpPr>
          <p:cNvPr id="6" name="Text 4"/>
          <p:cNvSpPr/>
          <p:nvPr/>
        </p:nvSpPr>
        <p:spPr>
          <a:xfrm>
            <a:off x="2190750" y="3043238"/>
            <a:ext cx="495300"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FFFFFF"/>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2819400" y="3105150"/>
            <a:ext cx="848171"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257D70"/>
                </a:solidFill>
                <a:latin typeface="Arial" pitchFamily="34" charset="0"/>
                <a:ea typeface="Arial" pitchFamily="34" charset="-122"/>
                <a:cs typeface="Arial" pitchFamily="34" charset="-120"/>
              </a:rPr>
              <a:t>Aurora</a:t>
            </a:r>
            <a:endParaRPr lang="en-US" sz="2025" dirty="0"/>
          </a:p>
        </p:txBody>
      </p:sp>
      <p:sp>
        <p:nvSpPr>
          <p:cNvPr id="8" name="Text 6"/>
          <p:cNvSpPr/>
          <p:nvPr/>
        </p:nvSpPr>
        <p:spPr>
          <a:xfrm>
            <a:off x="5008959" y="3119438"/>
            <a:ext cx="1029891"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257D70"/>
                </a:solidFill>
                <a:latin typeface="Arial" pitchFamily="34" charset="0"/>
                <a:ea typeface="Arial" pitchFamily="34" charset="-122"/>
                <a:cs typeface="Arial" pitchFamily="34" charset="-120"/>
              </a:rPr>
              <a:t>Đang thử</a:t>
            </a:r>
            <a:endParaRPr lang="en-US" sz="1800" dirty="0"/>
          </a:p>
        </p:txBody>
      </p:sp>
      <p:sp>
        <p:nvSpPr>
          <p:cNvPr id="9" name="Shape 7"/>
          <p:cNvSpPr/>
          <p:nvPr/>
        </p:nvSpPr>
        <p:spPr>
          <a:xfrm>
            <a:off x="2209800" y="3957638"/>
            <a:ext cx="419100" cy="419100"/>
          </a:xfrm>
          <a:prstGeom prst="ellipse">
            <a:avLst/>
          </a:prstGeom>
          <a:solidFill>
            <a:srgbClr val="E4EEEA"/>
          </a:solidFill>
          <a:ln/>
        </p:spPr>
      </p:sp>
      <p:sp>
        <p:nvSpPr>
          <p:cNvPr id="10" name="Text 8"/>
          <p:cNvSpPr/>
          <p:nvPr/>
        </p:nvSpPr>
        <p:spPr>
          <a:xfrm>
            <a:off x="2171700" y="3957638"/>
            <a:ext cx="495300"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171A21"/>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2800350" y="4019550"/>
            <a:ext cx="1176933"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71A21"/>
                </a:solidFill>
                <a:latin typeface="Arial" pitchFamily="34" charset="0"/>
                <a:ea typeface="Arial" pitchFamily="34" charset="-122"/>
                <a:cs typeface="Arial" pitchFamily="34" charset="-120"/>
              </a:rPr>
              <a:t>Daybreak</a:t>
            </a:r>
            <a:endParaRPr lang="en-US" sz="2025" dirty="0"/>
          </a:p>
        </p:txBody>
      </p:sp>
      <p:sp>
        <p:nvSpPr>
          <p:cNvPr id="12" name="Shape 10"/>
          <p:cNvSpPr/>
          <p:nvPr/>
        </p:nvSpPr>
        <p:spPr>
          <a:xfrm>
            <a:off x="2209800" y="4852988"/>
            <a:ext cx="419100" cy="419100"/>
          </a:xfrm>
          <a:prstGeom prst="ellipse">
            <a:avLst/>
          </a:prstGeom>
          <a:solidFill>
            <a:srgbClr val="E4EEEA"/>
          </a:solidFill>
          <a:ln/>
        </p:spPr>
      </p:sp>
      <p:sp>
        <p:nvSpPr>
          <p:cNvPr id="13" name="Text 11"/>
          <p:cNvSpPr/>
          <p:nvPr/>
        </p:nvSpPr>
        <p:spPr>
          <a:xfrm>
            <a:off x="2171700" y="4852988"/>
            <a:ext cx="495300"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171A21"/>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2800350" y="4914900"/>
            <a:ext cx="719584"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71A21"/>
                </a:solidFill>
                <a:latin typeface="Arial" pitchFamily="34" charset="0"/>
                <a:ea typeface="Arial" pitchFamily="34" charset="-122"/>
                <a:cs typeface="Arial" pitchFamily="34" charset="-120"/>
              </a:rPr>
              <a:t>Pulse</a:t>
            </a:r>
            <a:endParaRPr lang="en-US" sz="2025" dirty="0"/>
          </a:p>
        </p:txBody>
      </p:sp>
      <p:sp>
        <p:nvSpPr>
          <p:cNvPr id="15" name="Shape 13"/>
          <p:cNvSpPr/>
          <p:nvPr/>
        </p:nvSpPr>
        <p:spPr>
          <a:xfrm>
            <a:off x="2209800" y="5748338"/>
            <a:ext cx="419100" cy="419100"/>
          </a:xfrm>
          <a:prstGeom prst="ellipse">
            <a:avLst/>
          </a:prstGeom>
          <a:solidFill>
            <a:srgbClr val="E4EEEA"/>
          </a:solidFill>
          <a:ln/>
        </p:spPr>
      </p:sp>
      <p:sp>
        <p:nvSpPr>
          <p:cNvPr id="16" name="Text 14"/>
          <p:cNvSpPr/>
          <p:nvPr/>
        </p:nvSpPr>
        <p:spPr>
          <a:xfrm>
            <a:off x="2171700" y="5748338"/>
            <a:ext cx="495300"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171A21"/>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2800350" y="5810250"/>
            <a:ext cx="891183"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71A21"/>
                </a:solidFill>
                <a:latin typeface="Arial" pitchFamily="34" charset="0"/>
                <a:ea typeface="Arial" pitchFamily="34" charset="-122"/>
                <a:cs typeface="Arial" pitchFamily="34" charset="-120"/>
              </a:rPr>
              <a:t>Breeze</a:t>
            </a:r>
            <a:endParaRPr lang="en-US" sz="2025" dirty="0"/>
          </a:p>
        </p:txBody>
      </p:sp>
      <p:sp>
        <p:nvSpPr>
          <p:cNvPr id="18" name="Shape 16"/>
          <p:cNvSpPr/>
          <p:nvPr/>
        </p:nvSpPr>
        <p:spPr>
          <a:xfrm>
            <a:off x="2209800" y="6643688"/>
            <a:ext cx="419100" cy="419100"/>
          </a:xfrm>
          <a:prstGeom prst="ellipse">
            <a:avLst/>
          </a:prstGeom>
          <a:solidFill>
            <a:srgbClr val="E4EEEA"/>
          </a:solidFill>
          <a:ln/>
        </p:spPr>
      </p:sp>
      <p:sp>
        <p:nvSpPr>
          <p:cNvPr id="19" name="Text 17"/>
          <p:cNvSpPr/>
          <p:nvPr/>
        </p:nvSpPr>
        <p:spPr>
          <a:xfrm>
            <a:off x="2171700" y="6643688"/>
            <a:ext cx="495300" cy="457200"/>
          </a:xfrm>
          <a:prstGeom prst="rect">
            <a:avLst/>
          </a:prstGeom>
          <a:noFill/>
          <a:ln/>
        </p:spPr>
        <p:txBody>
          <a:bodyPr wrap="square" lIns="25400" tIns="25400" rIns="25400" bIns="25400" rtlCol="0" anchor="ctr">
            <a:normAutofit/>
          </a:bodyPr>
          <a:lstStyle/>
          <a:p>
            <a:pPr algn="ctr" indent="0" marL="0">
              <a:buNone/>
            </a:pPr>
            <a:r>
              <a:rPr lang="en-US" sz="1800" dirty="0">
                <a:solidFill>
                  <a:srgbClr val="171A21"/>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2800350" y="6705600"/>
            <a:ext cx="633561"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71A21"/>
                </a:solidFill>
                <a:latin typeface="Arial" pitchFamily="34" charset="0"/>
                <a:ea typeface="Arial" pitchFamily="34" charset="-122"/>
                <a:cs typeface="Arial" pitchFamily="34" charset="-120"/>
              </a:rPr>
              <a:t>Orbit</a:t>
            </a:r>
            <a:endParaRPr lang="en-US" sz="2025" dirty="0"/>
          </a:p>
        </p:txBody>
      </p:sp>
      <p:sp>
        <p:nvSpPr>
          <p:cNvPr id="21" name="Shape 19"/>
          <p:cNvSpPr/>
          <p:nvPr/>
        </p:nvSpPr>
        <p:spPr>
          <a:xfrm>
            <a:off x="2000250" y="7443788"/>
            <a:ext cx="4191000" cy="9525"/>
          </a:xfrm>
          <a:prstGeom prst="rect">
            <a:avLst/>
          </a:prstGeom>
          <a:solidFill>
            <a:srgbClr val="DCE7E3"/>
          </a:solidFill>
          <a:ln/>
        </p:spPr>
      </p:sp>
      <p:sp>
        <p:nvSpPr>
          <p:cNvPr id="22" name="Text 20"/>
          <p:cNvSpPr/>
          <p:nvPr/>
        </p:nvSpPr>
        <p:spPr>
          <a:xfrm>
            <a:off x="2209800" y="7662863"/>
            <a:ext cx="3074164"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C85C42"/>
                </a:solidFill>
                <a:latin typeface="Arial" pitchFamily="34" charset="0"/>
                <a:ea typeface="Arial" pitchFamily="34" charset="-122"/>
                <a:cs typeface="Arial" pitchFamily="34" charset="-120"/>
              </a:rPr>
              <a:t>+ Chọn nhạc trên máy…</a:t>
            </a:r>
            <a:endParaRPr lang="en-US" sz="2025" dirty="0"/>
          </a:p>
        </p:txBody>
      </p:sp>
      <p:sp>
        <p:nvSpPr>
          <p:cNvPr id="23" name="Text 21"/>
          <p:cNvSpPr/>
          <p:nvPr/>
        </p:nvSpPr>
        <p:spPr>
          <a:xfrm>
            <a:off x="7905750" y="857250"/>
            <a:ext cx="10372725"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06 · ALARM</a:t>
            </a:r>
            <a:endParaRPr lang="en-US" sz="1950" dirty="0"/>
          </a:p>
        </p:txBody>
      </p:sp>
      <p:sp>
        <p:nvSpPr>
          <p:cNvPr id="24" name="Text 22"/>
          <p:cNvSpPr/>
          <p:nvPr/>
        </p:nvSpPr>
        <p:spPr>
          <a:xfrm>
            <a:off x="7905750" y="1266825"/>
            <a:ext cx="10372725"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Tùy biến âm thanh</a:t>
            </a:r>
            <a:endParaRPr lang="en-US" sz="4500" dirty="0"/>
          </a:p>
        </p:txBody>
      </p:sp>
      <p:sp>
        <p:nvSpPr>
          <p:cNvPr id="25" name="Shape 23"/>
          <p:cNvSpPr/>
          <p:nvPr/>
        </p:nvSpPr>
        <p:spPr>
          <a:xfrm>
            <a:off x="7905750" y="2514600"/>
            <a:ext cx="104775" cy="104775"/>
          </a:xfrm>
          <a:prstGeom prst="ellipse">
            <a:avLst/>
          </a:prstGeom>
          <a:solidFill>
            <a:srgbClr val="257D70"/>
          </a:solidFill>
          <a:ln/>
        </p:spPr>
      </p:sp>
      <p:sp>
        <p:nvSpPr>
          <p:cNvPr id="26" name="Text 24"/>
          <p:cNvSpPr/>
          <p:nvPr/>
        </p:nvSpPr>
        <p:spPr>
          <a:xfrm>
            <a:off x="8201025" y="2390775"/>
            <a:ext cx="9408509"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5 nhạc có sẵn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Aurora, Daybreak, Pulse, Breeze, Orbit; nghe thử trước khi chọn</a:t>
            </a:r>
            <a:endParaRPr lang="en-US" sz="2250" dirty="0"/>
          </a:p>
        </p:txBody>
      </p:sp>
      <p:sp>
        <p:nvSpPr>
          <p:cNvPr id="27" name="Shape 25"/>
          <p:cNvSpPr/>
          <p:nvPr/>
        </p:nvSpPr>
        <p:spPr>
          <a:xfrm>
            <a:off x="7905750" y="3638550"/>
            <a:ext cx="104775" cy="104775"/>
          </a:xfrm>
          <a:prstGeom prst="ellipse">
            <a:avLst/>
          </a:prstGeom>
          <a:solidFill>
            <a:srgbClr val="257D70"/>
          </a:solidFill>
          <a:ln/>
        </p:spPr>
      </p:sp>
      <p:sp>
        <p:nvSpPr>
          <p:cNvPr id="28" name="Text 26"/>
          <p:cNvSpPr/>
          <p:nvPr/>
        </p:nvSpPr>
        <p:spPr>
          <a:xfrm>
            <a:off x="8201025" y="3514725"/>
            <a:ext cx="9633406"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Bài hát trong máy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chọn đúng bài mình thích làm nhạc báo thức</a:t>
            </a:r>
            <a:endParaRPr lang="en-US" sz="2250" dirty="0"/>
          </a:p>
        </p:txBody>
      </p:sp>
      <p:sp>
        <p:nvSpPr>
          <p:cNvPr id="29" name="Shape 27"/>
          <p:cNvSpPr/>
          <p:nvPr/>
        </p:nvSpPr>
        <p:spPr>
          <a:xfrm>
            <a:off x="7905750" y="4333875"/>
            <a:ext cx="104775" cy="104775"/>
          </a:xfrm>
          <a:prstGeom prst="ellipse">
            <a:avLst/>
          </a:prstGeom>
          <a:solidFill>
            <a:srgbClr val="257D70"/>
          </a:solidFill>
          <a:ln/>
        </p:spPr>
      </p:sp>
      <p:sp>
        <p:nvSpPr>
          <p:cNvPr id="30" name="Text 28"/>
          <p:cNvSpPr/>
          <p:nvPr/>
        </p:nvSpPr>
        <p:spPr>
          <a:xfrm>
            <a:off x="8201025" y="4210050"/>
            <a:ext cx="9408509"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Nhạc ngẫu nhiên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mỗi buổi sáng một bài khác nhau, không bị chai tai</a:t>
            </a:r>
            <a:endParaRPr lang="en-US" sz="2250" dirty="0"/>
          </a:p>
        </p:txBody>
      </p:sp>
      <p:sp>
        <p:nvSpPr>
          <p:cNvPr id="31" name="Shape 29"/>
          <p:cNvSpPr/>
          <p:nvPr/>
        </p:nvSpPr>
        <p:spPr>
          <a:xfrm>
            <a:off x="7905750" y="5457825"/>
            <a:ext cx="104775" cy="104775"/>
          </a:xfrm>
          <a:prstGeom prst="ellipse">
            <a:avLst/>
          </a:prstGeom>
          <a:solidFill>
            <a:srgbClr val="257D70"/>
          </a:solidFill>
          <a:ln/>
        </p:spPr>
      </p:sp>
      <p:sp>
        <p:nvSpPr>
          <p:cNvPr id="32" name="Text 30"/>
          <p:cNvSpPr/>
          <p:nvPr/>
        </p:nvSpPr>
        <p:spPr>
          <a:xfrm>
            <a:off x="8201025" y="5334000"/>
            <a:ext cx="9408509"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Âm lượng theo từng báo thức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báo thức sáng to, nhắc việc chiều nhỏ</a:t>
            </a:r>
            <a:endParaRPr lang="en-US" sz="2250" dirty="0"/>
          </a:p>
        </p:txBody>
      </p:sp>
      <p:sp>
        <p:nvSpPr>
          <p:cNvPr id="33" name="Shape 31"/>
          <p:cNvSpPr/>
          <p:nvPr/>
        </p:nvSpPr>
        <p:spPr>
          <a:xfrm>
            <a:off x="7905750" y="6581775"/>
            <a:ext cx="104775" cy="104775"/>
          </a:xfrm>
          <a:prstGeom prst="ellipse">
            <a:avLst/>
          </a:prstGeom>
          <a:solidFill>
            <a:srgbClr val="257D70"/>
          </a:solidFill>
          <a:ln/>
        </p:spPr>
      </p:sp>
      <p:sp>
        <p:nvSpPr>
          <p:cNvPr id="34" name="Text 32"/>
          <p:cNvSpPr/>
          <p:nvPr/>
        </p:nvSpPr>
        <p:spPr>
          <a:xfrm>
            <a:off x="8201025" y="6457950"/>
            <a:ext cx="6687592"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Chuông lặp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reo mãi đến khi bạn thật sự tắt</a:t>
            </a:r>
            <a:endParaRPr lang="en-US" sz="2250" dirty="0"/>
          </a:p>
        </p:txBody>
      </p:sp>
      <p:sp>
        <p:nvSpPr>
          <p:cNvPr id="35" name="Shape 33"/>
          <p:cNvSpPr/>
          <p:nvPr/>
        </p:nvSpPr>
        <p:spPr>
          <a:xfrm>
            <a:off x="7905750" y="7277100"/>
            <a:ext cx="104775" cy="104775"/>
          </a:xfrm>
          <a:prstGeom prst="ellipse">
            <a:avLst/>
          </a:prstGeom>
          <a:solidFill>
            <a:srgbClr val="257D70"/>
          </a:solidFill>
          <a:ln/>
        </p:spPr>
      </p:sp>
      <p:sp>
        <p:nvSpPr>
          <p:cNvPr id="36" name="Text 34"/>
          <p:cNvSpPr/>
          <p:nvPr/>
        </p:nvSpPr>
        <p:spPr>
          <a:xfrm>
            <a:off x="8201025" y="7153275"/>
            <a:ext cx="8024946"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Rung kèm chuông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bật / tắt riêng cho từng báo thức</a:t>
            </a:r>
            <a:endParaRPr lang="en-US" sz="2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07 · ALARM</a:t>
            </a:r>
            <a:endParaRPr lang="en-US" sz="1950" dirty="0"/>
          </a:p>
        </p:txBody>
      </p:sp>
      <p:sp>
        <p:nvSpPr>
          <p:cNvPr id="3" name="Text 1"/>
          <p:cNvSpPr/>
          <p:nvPr/>
        </p:nvSpPr>
        <p:spPr>
          <a:xfrm>
            <a:off x="952500" y="1266825"/>
            <a:ext cx="18021300"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Repeat &amp; Độ tin cậy</a:t>
            </a:r>
            <a:endParaRPr lang="en-US" sz="4500" dirty="0"/>
          </a:p>
        </p:txBody>
      </p:sp>
      <p:sp>
        <p:nvSpPr>
          <p:cNvPr id="4" name="Text 2"/>
          <p:cNvSpPr/>
          <p:nvPr/>
        </p:nvSpPr>
        <p:spPr>
          <a:xfrm>
            <a:off x="952500" y="2524125"/>
            <a:ext cx="1202978"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3C4450"/>
                </a:solidFill>
                <a:latin typeface="Arial" pitchFamily="34" charset="0"/>
                <a:ea typeface="Arial" pitchFamily="34" charset="-122"/>
                <a:cs typeface="Arial" pitchFamily="34" charset="-120"/>
              </a:rPr>
              <a:t>Ngày lặp:</a:t>
            </a:r>
            <a:endParaRPr lang="en-US" sz="2100" dirty="0"/>
          </a:p>
        </p:txBody>
      </p:sp>
      <p:sp>
        <p:nvSpPr>
          <p:cNvPr id="5" name="Shape 3"/>
          <p:cNvSpPr/>
          <p:nvPr/>
        </p:nvSpPr>
        <p:spPr>
          <a:xfrm>
            <a:off x="2345978" y="2314575"/>
            <a:ext cx="723900" cy="723900"/>
          </a:xfrm>
          <a:prstGeom prst="ellipse">
            <a:avLst/>
          </a:prstGeom>
          <a:solidFill>
            <a:srgbClr val="257D70"/>
          </a:solidFill>
          <a:ln/>
        </p:spPr>
      </p:sp>
      <p:sp>
        <p:nvSpPr>
          <p:cNvPr id="6" name="Text 4"/>
          <p:cNvSpPr/>
          <p:nvPr/>
        </p:nvSpPr>
        <p:spPr>
          <a:xfrm>
            <a:off x="2307878" y="2314575"/>
            <a:ext cx="800100" cy="762000"/>
          </a:xfrm>
          <a:prstGeom prst="rect">
            <a:avLst/>
          </a:prstGeom>
          <a:noFill/>
          <a:ln/>
        </p:spPr>
        <p:txBody>
          <a:bodyPr wrap="square" lIns="25400" tIns="25400" rIns="25400" bIns="25400" rtlCol="0" anchor="ctr">
            <a:normAutofit/>
          </a:bodyPr>
          <a:lstStyle/>
          <a:p>
            <a:pPr algn="ctr" indent="0" marL="0">
              <a:buNone/>
            </a:pPr>
            <a:r>
              <a:rPr lang="en-US" sz="2025" b="1" dirty="0">
                <a:solidFill>
                  <a:srgbClr val="FFFFFF"/>
                </a:solidFill>
                <a:latin typeface="Arial" pitchFamily="34" charset="0"/>
                <a:ea typeface="Arial" pitchFamily="34" charset="-122"/>
                <a:cs typeface="Arial" pitchFamily="34" charset="-120"/>
              </a:rPr>
              <a:t>T2</a:t>
            </a:r>
            <a:endParaRPr lang="en-US" sz="2025" dirty="0"/>
          </a:p>
        </p:txBody>
      </p:sp>
      <p:sp>
        <p:nvSpPr>
          <p:cNvPr id="7" name="Shape 5"/>
          <p:cNvSpPr/>
          <p:nvPr/>
        </p:nvSpPr>
        <p:spPr>
          <a:xfrm>
            <a:off x="3260378" y="2314575"/>
            <a:ext cx="723900" cy="723900"/>
          </a:xfrm>
          <a:prstGeom prst="ellipse">
            <a:avLst/>
          </a:prstGeom>
          <a:solidFill>
            <a:srgbClr val="257D70"/>
          </a:solidFill>
          <a:ln/>
        </p:spPr>
      </p:sp>
      <p:sp>
        <p:nvSpPr>
          <p:cNvPr id="8" name="Text 6"/>
          <p:cNvSpPr/>
          <p:nvPr/>
        </p:nvSpPr>
        <p:spPr>
          <a:xfrm>
            <a:off x="3222278" y="2314575"/>
            <a:ext cx="800100" cy="762000"/>
          </a:xfrm>
          <a:prstGeom prst="rect">
            <a:avLst/>
          </a:prstGeom>
          <a:noFill/>
          <a:ln/>
        </p:spPr>
        <p:txBody>
          <a:bodyPr wrap="square" lIns="25400" tIns="25400" rIns="25400" bIns="25400" rtlCol="0" anchor="ctr">
            <a:normAutofit/>
          </a:bodyPr>
          <a:lstStyle/>
          <a:p>
            <a:pPr algn="ctr" indent="0" marL="0">
              <a:buNone/>
            </a:pPr>
            <a:r>
              <a:rPr lang="en-US" sz="2025" b="1" dirty="0">
                <a:solidFill>
                  <a:srgbClr val="FFFFFF"/>
                </a:solidFill>
                <a:latin typeface="Arial" pitchFamily="34" charset="0"/>
                <a:ea typeface="Arial" pitchFamily="34" charset="-122"/>
                <a:cs typeface="Arial" pitchFamily="34" charset="-120"/>
              </a:rPr>
              <a:t>T3</a:t>
            </a:r>
            <a:endParaRPr lang="en-US" sz="2025" dirty="0"/>
          </a:p>
        </p:txBody>
      </p:sp>
      <p:sp>
        <p:nvSpPr>
          <p:cNvPr id="9" name="Shape 7"/>
          <p:cNvSpPr/>
          <p:nvPr/>
        </p:nvSpPr>
        <p:spPr>
          <a:xfrm>
            <a:off x="4174778" y="2314575"/>
            <a:ext cx="723900" cy="723900"/>
          </a:xfrm>
          <a:prstGeom prst="ellipse">
            <a:avLst/>
          </a:prstGeom>
          <a:solidFill>
            <a:srgbClr val="257D70"/>
          </a:solidFill>
          <a:ln/>
        </p:spPr>
      </p:sp>
      <p:sp>
        <p:nvSpPr>
          <p:cNvPr id="10" name="Text 8"/>
          <p:cNvSpPr/>
          <p:nvPr/>
        </p:nvSpPr>
        <p:spPr>
          <a:xfrm>
            <a:off x="4136678" y="2314575"/>
            <a:ext cx="800100" cy="762000"/>
          </a:xfrm>
          <a:prstGeom prst="rect">
            <a:avLst/>
          </a:prstGeom>
          <a:noFill/>
          <a:ln/>
        </p:spPr>
        <p:txBody>
          <a:bodyPr wrap="square" lIns="25400" tIns="25400" rIns="25400" bIns="25400" rtlCol="0" anchor="ctr">
            <a:normAutofit/>
          </a:bodyPr>
          <a:lstStyle/>
          <a:p>
            <a:pPr algn="ctr" indent="0" marL="0">
              <a:buNone/>
            </a:pPr>
            <a:r>
              <a:rPr lang="en-US" sz="2025" b="1" dirty="0">
                <a:solidFill>
                  <a:srgbClr val="FFFFFF"/>
                </a:solidFill>
                <a:latin typeface="Arial" pitchFamily="34" charset="0"/>
                <a:ea typeface="Arial" pitchFamily="34" charset="-122"/>
                <a:cs typeface="Arial" pitchFamily="34" charset="-120"/>
              </a:rPr>
              <a:t>T4</a:t>
            </a:r>
            <a:endParaRPr lang="en-US" sz="2025" dirty="0"/>
          </a:p>
        </p:txBody>
      </p:sp>
      <p:sp>
        <p:nvSpPr>
          <p:cNvPr id="11" name="Shape 9"/>
          <p:cNvSpPr/>
          <p:nvPr/>
        </p:nvSpPr>
        <p:spPr>
          <a:xfrm>
            <a:off x="5089178" y="2314575"/>
            <a:ext cx="723900" cy="723900"/>
          </a:xfrm>
          <a:prstGeom prst="ellipse">
            <a:avLst/>
          </a:prstGeom>
          <a:solidFill>
            <a:srgbClr val="257D70"/>
          </a:solidFill>
          <a:ln/>
        </p:spPr>
      </p:sp>
      <p:sp>
        <p:nvSpPr>
          <p:cNvPr id="12" name="Text 10"/>
          <p:cNvSpPr/>
          <p:nvPr/>
        </p:nvSpPr>
        <p:spPr>
          <a:xfrm>
            <a:off x="5051078" y="2314575"/>
            <a:ext cx="800100" cy="762000"/>
          </a:xfrm>
          <a:prstGeom prst="rect">
            <a:avLst/>
          </a:prstGeom>
          <a:noFill/>
          <a:ln/>
        </p:spPr>
        <p:txBody>
          <a:bodyPr wrap="square" lIns="25400" tIns="25400" rIns="25400" bIns="25400" rtlCol="0" anchor="ctr">
            <a:normAutofit/>
          </a:bodyPr>
          <a:lstStyle/>
          <a:p>
            <a:pPr algn="ctr" indent="0" marL="0">
              <a:buNone/>
            </a:pPr>
            <a:r>
              <a:rPr lang="en-US" sz="2025" b="1" dirty="0">
                <a:solidFill>
                  <a:srgbClr val="FFFFFF"/>
                </a:solidFill>
                <a:latin typeface="Arial" pitchFamily="34" charset="0"/>
                <a:ea typeface="Arial" pitchFamily="34" charset="-122"/>
                <a:cs typeface="Arial" pitchFamily="34" charset="-120"/>
              </a:rPr>
              <a:t>T5</a:t>
            </a:r>
            <a:endParaRPr lang="en-US" sz="2025" dirty="0"/>
          </a:p>
        </p:txBody>
      </p:sp>
      <p:sp>
        <p:nvSpPr>
          <p:cNvPr id="13" name="Shape 11"/>
          <p:cNvSpPr/>
          <p:nvPr/>
        </p:nvSpPr>
        <p:spPr>
          <a:xfrm>
            <a:off x="6003578" y="2314575"/>
            <a:ext cx="723900" cy="723900"/>
          </a:xfrm>
          <a:prstGeom prst="ellipse">
            <a:avLst/>
          </a:prstGeom>
          <a:solidFill>
            <a:srgbClr val="257D70"/>
          </a:solidFill>
          <a:ln/>
        </p:spPr>
      </p:sp>
      <p:sp>
        <p:nvSpPr>
          <p:cNvPr id="14" name="Text 12"/>
          <p:cNvSpPr/>
          <p:nvPr/>
        </p:nvSpPr>
        <p:spPr>
          <a:xfrm>
            <a:off x="5965478" y="2314575"/>
            <a:ext cx="800100" cy="762000"/>
          </a:xfrm>
          <a:prstGeom prst="rect">
            <a:avLst/>
          </a:prstGeom>
          <a:noFill/>
          <a:ln/>
        </p:spPr>
        <p:txBody>
          <a:bodyPr wrap="square" lIns="25400" tIns="25400" rIns="25400" bIns="25400" rtlCol="0" anchor="ctr">
            <a:normAutofit/>
          </a:bodyPr>
          <a:lstStyle/>
          <a:p>
            <a:pPr algn="ctr" indent="0" marL="0">
              <a:buNone/>
            </a:pPr>
            <a:r>
              <a:rPr lang="en-US" sz="2025" b="1" dirty="0">
                <a:solidFill>
                  <a:srgbClr val="FFFFFF"/>
                </a:solidFill>
                <a:latin typeface="Arial" pitchFamily="34" charset="0"/>
                <a:ea typeface="Arial" pitchFamily="34" charset="-122"/>
                <a:cs typeface="Arial" pitchFamily="34" charset="-120"/>
              </a:rPr>
              <a:t>T6</a:t>
            </a:r>
            <a:endParaRPr lang="en-US" sz="2025" dirty="0"/>
          </a:p>
        </p:txBody>
      </p:sp>
      <p:sp>
        <p:nvSpPr>
          <p:cNvPr id="15" name="Shape 13"/>
          <p:cNvSpPr/>
          <p:nvPr/>
        </p:nvSpPr>
        <p:spPr>
          <a:xfrm>
            <a:off x="6917978" y="2314575"/>
            <a:ext cx="723900" cy="723900"/>
          </a:xfrm>
          <a:prstGeom prst="ellipse">
            <a:avLst/>
          </a:prstGeom>
          <a:solidFill>
            <a:srgbClr val="FFFFFF"/>
          </a:solidFill>
          <a:ln w="19050">
            <a:solidFill>
              <a:srgbClr val="C9D4D0"/>
            </a:solidFill>
            <a:prstDash val="solid"/>
          </a:ln>
        </p:spPr>
      </p:sp>
      <p:sp>
        <p:nvSpPr>
          <p:cNvPr id="16" name="Text 14"/>
          <p:cNvSpPr/>
          <p:nvPr/>
        </p:nvSpPr>
        <p:spPr>
          <a:xfrm>
            <a:off x="6898928" y="2333625"/>
            <a:ext cx="762000" cy="723900"/>
          </a:xfrm>
          <a:prstGeom prst="rect">
            <a:avLst/>
          </a:prstGeom>
          <a:noFill/>
          <a:ln/>
        </p:spPr>
        <p:txBody>
          <a:bodyPr wrap="square" lIns="25400" tIns="25400" rIns="25400" bIns="25400" rtlCol="0" anchor="ctr">
            <a:normAutofit/>
          </a:bodyPr>
          <a:lstStyle/>
          <a:p>
            <a:pPr algn="ctr" indent="0" marL="0">
              <a:buNone/>
            </a:pPr>
            <a:r>
              <a:rPr lang="en-US" sz="2025" b="1" dirty="0">
                <a:solidFill>
                  <a:srgbClr val="8A94A0"/>
                </a:solidFill>
                <a:latin typeface="Arial" pitchFamily="34" charset="0"/>
                <a:ea typeface="Arial" pitchFamily="34" charset="-122"/>
                <a:cs typeface="Arial" pitchFamily="34" charset="-120"/>
              </a:rPr>
              <a:t>T7</a:t>
            </a:r>
            <a:endParaRPr lang="en-US" sz="2025" dirty="0"/>
          </a:p>
        </p:txBody>
      </p:sp>
      <p:sp>
        <p:nvSpPr>
          <p:cNvPr id="17" name="Shape 15"/>
          <p:cNvSpPr/>
          <p:nvPr/>
        </p:nvSpPr>
        <p:spPr>
          <a:xfrm>
            <a:off x="7832378" y="2314575"/>
            <a:ext cx="723900" cy="723900"/>
          </a:xfrm>
          <a:prstGeom prst="ellipse">
            <a:avLst/>
          </a:prstGeom>
          <a:solidFill>
            <a:srgbClr val="FFFFFF"/>
          </a:solidFill>
          <a:ln w="19050">
            <a:solidFill>
              <a:srgbClr val="C9D4D0"/>
            </a:solidFill>
            <a:prstDash val="solid"/>
          </a:ln>
        </p:spPr>
      </p:sp>
      <p:sp>
        <p:nvSpPr>
          <p:cNvPr id="18" name="Text 16"/>
          <p:cNvSpPr/>
          <p:nvPr/>
        </p:nvSpPr>
        <p:spPr>
          <a:xfrm>
            <a:off x="7813328" y="2333625"/>
            <a:ext cx="762000" cy="723900"/>
          </a:xfrm>
          <a:prstGeom prst="rect">
            <a:avLst/>
          </a:prstGeom>
          <a:noFill/>
          <a:ln/>
        </p:spPr>
        <p:txBody>
          <a:bodyPr wrap="square" lIns="25400" tIns="25400" rIns="25400" bIns="25400" rtlCol="0" anchor="ctr">
            <a:normAutofit/>
          </a:bodyPr>
          <a:lstStyle/>
          <a:p>
            <a:pPr algn="ctr" indent="0" marL="0">
              <a:buNone/>
            </a:pPr>
            <a:r>
              <a:rPr lang="en-US" sz="2025" b="1" dirty="0">
                <a:solidFill>
                  <a:srgbClr val="8A94A0"/>
                </a:solidFill>
                <a:latin typeface="Arial" pitchFamily="34" charset="0"/>
                <a:ea typeface="Arial" pitchFamily="34" charset="-122"/>
                <a:cs typeface="Arial" pitchFamily="34" charset="-120"/>
              </a:rPr>
              <a:t>CN</a:t>
            </a:r>
            <a:endParaRPr lang="en-US" sz="2025" dirty="0"/>
          </a:p>
        </p:txBody>
      </p:sp>
      <p:sp>
        <p:nvSpPr>
          <p:cNvPr id="19" name="Text 17"/>
          <p:cNvSpPr/>
          <p:nvPr/>
        </p:nvSpPr>
        <p:spPr>
          <a:xfrm>
            <a:off x="8861078" y="2519363"/>
            <a:ext cx="3888298" cy="352425"/>
          </a:xfrm>
          <a:prstGeom prst="rect">
            <a:avLst/>
          </a:prstGeom>
          <a:noFill/>
          <a:ln/>
        </p:spPr>
        <p:txBody>
          <a:bodyPr wrap="square" lIns="25400" tIns="25400" rIns="25400" bIns="25400" rtlCol="0" anchor="t">
            <a:normAutofit/>
          </a:bodyPr>
          <a:lstStyle/>
          <a:p>
            <a:pPr algn="l" indent="0" marL="0">
              <a:buNone/>
            </a:pPr>
            <a:r>
              <a:rPr lang="en-US" sz="1950" dirty="0">
                <a:solidFill>
                  <a:srgbClr val="5A6472"/>
                </a:solidFill>
                <a:latin typeface="Arial" pitchFamily="34" charset="0"/>
                <a:ea typeface="Arial" pitchFamily="34" charset="-122"/>
                <a:cs typeface="Arial" pitchFamily="34" charset="-120"/>
              </a:rPr>
              <a:t>chạm để chọn ngày muốn reo</a:t>
            </a:r>
            <a:endParaRPr lang="en-US" sz="1950" dirty="0"/>
          </a:p>
        </p:txBody>
      </p:sp>
      <p:sp>
        <p:nvSpPr>
          <p:cNvPr id="20" name="Shape 18"/>
          <p:cNvSpPr/>
          <p:nvPr/>
        </p:nvSpPr>
        <p:spPr>
          <a:xfrm>
            <a:off x="952500" y="3638550"/>
            <a:ext cx="104775" cy="104775"/>
          </a:xfrm>
          <a:prstGeom prst="ellipse">
            <a:avLst/>
          </a:prstGeom>
          <a:solidFill>
            <a:srgbClr val="257D70"/>
          </a:solidFill>
          <a:ln/>
        </p:spPr>
      </p:sp>
      <p:sp>
        <p:nvSpPr>
          <p:cNvPr id="21" name="Text 19"/>
          <p:cNvSpPr/>
          <p:nvPr/>
        </p:nvSpPr>
        <p:spPr>
          <a:xfrm>
            <a:off x="1247775" y="3514725"/>
            <a:ext cx="11248579"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Đặt một lần, dùng cả tuần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chọn đúng những ngày cần reo, ngày nghỉ thì im</a:t>
            </a:r>
            <a:endParaRPr lang="en-US" sz="2250" dirty="0"/>
          </a:p>
        </p:txBody>
      </p:sp>
      <p:sp>
        <p:nvSpPr>
          <p:cNvPr id="22" name="Shape 20"/>
          <p:cNvSpPr/>
          <p:nvPr/>
        </p:nvSpPr>
        <p:spPr>
          <a:xfrm>
            <a:off x="952500" y="4333875"/>
            <a:ext cx="104775" cy="104775"/>
          </a:xfrm>
          <a:prstGeom prst="ellipse">
            <a:avLst/>
          </a:prstGeom>
          <a:solidFill>
            <a:srgbClr val="257D70"/>
          </a:solidFill>
          <a:ln/>
        </p:spPr>
      </p:sp>
      <p:sp>
        <p:nvSpPr>
          <p:cNvPr id="23" name="Text 21"/>
          <p:cNvSpPr/>
          <p:nvPr/>
        </p:nvSpPr>
        <p:spPr>
          <a:xfrm>
            <a:off x="1247775" y="4210050"/>
            <a:ext cx="8135779"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Báo thức lặp tự lên lịch tiếp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không phải đặt lại mỗi tối</a:t>
            </a:r>
            <a:endParaRPr lang="en-US" sz="2250" dirty="0"/>
          </a:p>
        </p:txBody>
      </p:sp>
      <p:sp>
        <p:nvSpPr>
          <p:cNvPr id="24" name="Shape 22"/>
          <p:cNvSpPr/>
          <p:nvPr/>
        </p:nvSpPr>
        <p:spPr>
          <a:xfrm>
            <a:off x="952500" y="5029200"/>
            <a:ext cx="104775" cy="104775"/>
          </a:xfrm>
          <a:prstGeom prst="ellipse">
            <a:avLst/>
          </a:prstGeom>
          <a:solidFill>
            <a:srgbClr val="257D70"/>
          </a:solidFill>
          <a:ln/>
        </p:spPr>
      </p:sp>
      <p:sp>
        <p:nvSpPr>
          <p:cNvPr id="25" name="Text 23"/>
          <p:cNvSpPr/>
          <p:nvPr/>
        </p:nvSpPr>
        <p:spPr>
          <a:xfrm>
            <a:off x="1247775" y="4905375"/>
            <a:ext cx="10520556"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Báo thức một lần tự tắt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sau khi reo — sáng mai không bị dựng đầu vô cớ</a:t>
            </a:r>
            <a:endParaRPr lang="en-US" sz="2250" dirty="0"/>
          </a:p>
        </p:txBody>
      </p:sp>
      <p:sp>
        <p:nvSpPr>
          <p:cNvPr id="26" name="Shape 24"/>
          <p:cNvSpPr/>
          <p:nvPr/>
        </p:nvSpPr>
        <p:spPr>
          <a:xfrm>
            <a:off x="952500" y="5724525"/>
            <a:ext cx="104775" cy="104775"/>
          </a:xfrm>
          <a:prstGeom prst="ellipse">
            <a:avLst/>
          </a:prstGeom>
          <a:solidFill>
            <a:srgbClr val="257D70"/>
          </a:solidFill>
          <a:ln/>
        </p:spPr>
      </p:sp>
      <p:sp>
        <p:nvSpPr>
          <p:cNvPr id="27" name="Text 25"/>
          <p:cNvSpPr/>
          <p:nvPr/>
        </p:nvSpPr>
        <p:spPr>
          <a:xfrm>
            <a:off x="1247775" y="5600700"/>
            <a:ext cx="8757717"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Nhắc trước 1 phút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"Alarm in 1 minute" để bạn kịp chuẩn bị</a:t>
            </a:r>
            <a:endParaRPr lang="en-US" sz="2250" dirty="0"/>
          </a:p>
        </p:txBody>
      </p:sp>
      <p:sp>
        <p:nvSpPr>
          <p:cNvPr id="28" name="Shape 26"/>
          <p:cNvSpPr/>
          <p:nvPr/>
        </p:nvSpPr>
        <p:spPr>
          <a:xfrm>
            <a:off x="952500" y="6419850"/>
            <a:ext cx="104775" cy="104775"/>
          </a:xfrm>
          <a:prstGeom prst="ellipse">
            <a:avLst/>
          </a:prstGeom>
          <a:solidFill>
            <a:srgbClr val="C85C42"/>
          </a:solidFill>
          <a:ln/>
        </p:spPr>
      </p:sp>
      <p:sp>
        <p:nvSpPr>
          <p:cNvPr id="29" name="Text 27"/>
          <p:cNvSpPr/>
          <p:nvPr/>
        </p:nvSpPr>
        <p:spPr>
          <a:xfrm>
            <a:off x="1247775" y="6296025"/>
            <a:ext cx="14209782"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C85C42"/>
                </a:solidFill>
                <a:latin typeface="Arial" pitchFamily="34" charset="0"/>
                <a:ea typeface="Arial" pitchFamily="34" charset="-122"/>
                <a:cs typeface="Arial" pitchFamily="34" charset="-120"/>
              </a:rPr>
              <a:t>Reo đúng giờ trong mọi trường hợp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kể cả khi máy đang ngủ tiết kiệm pin hoặc app đã bị đóng</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9940528"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08 · ALARM</a:t>
            </a:r>
            <a:endParaRPr lang="en-US" sz="1950" dirty="0"/>
          </a:p>
        </p:txBody>
      </p:sp>
      <p:sp>
        <p:nvSpPr>
          <p:cNvPr id="3" name="Text 1"/>
          <p:cNvSpPr/>
          <p:nvPr/>
        </p:nvSpPr>
        <p:spPr>
          <a:xfrm>
            <a:off x="952500" y="1266825"/>
            <a:ext cx="9940528"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Trải nghiệm khi reo</a:t>
            </a:r>
            <a:endParaRPr lang="en-US" sz="4500" dirty="0"/>
          </a:p>
        </p:txBody>
      </p:sp>
      <p:sp>
        <p:nvSpPr>
          <p:cNvPr id="4" name="Shape 2"/>
          <p:cNvSpPr/>
          <p:nvPr/>
        </p:nvSpPr>
        <p:spPr>
          <a:xfrm>
            <a:off x="952500" y="2524125"/>
            <a:ext cx="133350" cy="133350"/>
          </a:xfrm>
          <a:prstGeom prst="ellipse">
            <a:avLst/>
          </a:prstGeom>
          <a:solidFill>
            <a:srgbClr val="257D70"/>
          </a:solidFill>
          <a:ln/>
        </p:spPr>
      </p:sp>
      <p:sp>
        <p:nvSpPr>
          <p:cNvPr id="5" name="Text 3"/>
          <p:cNvSpPr/>
          <p:nvPr/>
        </p:nvSpPr>
        <p:spPr>
          <a:xfrm>
            <a:off x="1295400" y="2390775"/>
            <a:ext cx="8954762" cy="933450"/>
          </a:xfrm>
          <a:prstGeom prst="rect">
            <a:avLst/>
          </a:prstGeom>
          <a:noFill/>
          <a:ln/>
        </p:spPr>
        <p:txBody>
          <a:bodyPr wrap="square" lIns="25400" tIns="25400" rIns="25400" bIns="25400" rtlCol="0" anchor="t">
            <a:normAutofit/>
          </a:bodyPr>
          <a:lstStyle/>
          <a:p>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Màn hình chuông </a:t>
            </a:r>
            <a:pPr algn="l" indent="0" marL="0">
              <a:lnSpc>
                <a:spcPct val="129167"/>
              </a:lnSpc>
              <a:buNone/>
            </a:pPr>
            <a:r>
              <a:rPr lang="en-US" sz="2325" b="1" dirty="0">
                <a:solidFill>
                  <a:srgbClr val="171A21"/>
                </a:solidFill>
                <a:latin typeface="Arial" pitchFamily="34" charset="0"/>
                <a:ea typeface="Arial" pitchFamily="34" charset="-122"/>
                <a:cs typeface="Arial" pitchFamily="34" charset="-120"/>
              </a:rPr>
              <a:t>sáng lên và hiện đè cả màn hình khóa </a:t>
            </a:r>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 không thể lướt qua</a:t>
            </a:r>
            <a:endParaRPr lang="en-US" sz="2325" dirty="0"/>
          </a:p>
        </p:txBody>
      </p:sp>
      <p:sp>
        <p:nvSpPr>
          <p:cNvPr id="6" name="Shape 4"/>
          <p:cNvSpPr/>
          <p:nvPr/>
        </p:nvSpPr>
        <p:spPr>
          <a:xfrm>
            <a:off x="952500" y="3705225"/>
            <a:ext cx="133350" cy="133350"/>
          </a:xfrm>
          <a:prstGeom prst="ellipse">
            <a:avLst/>
          </a:prstGeom>
          <a:solidFill>
            <a:srgbClr val="257D70"/>
          </a:solidFill>
          <a:ln/>
        </p:spPr>
      </p:sp>
      <p:sp>
        <p:nvSpPr>
          <p:cNvPr id="7" name="Text 5"/>
          <p:cNvSpPr/>
          <p:nvPr/>
        </p:nvSpPr>
        <p:spPr>
          <a:xfrm>
            <a:off x="1295400" y="3571875"/>
            <a:ext cx="8954762" cy="942975"/>
          </a:xfrm>
          <a:prstGeom prst="rect">
            <a:avLst/>
          </a:prstGeom>
          <a:noFill/>
          <a:ln/>
        </p:spPr>
        <p:txBody>
          <a:bodyPr wrap="square" lIns="25400" tIns="25400" rIns="25400" bIns="25400" rtlCol="0" anchor="t">
            <a:normAutofit/>
          </a:bodyPr>
          <a:lstStyle/>
          <a:p>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Không thoát được bằng nút Back — chỉ có </a:t>
            </a:r>
            <a:pPr algn="l" indent="0" marL="0">
              <a:lnSpc>
                <a:spcPct val="129167"/>
              </a:lnSpc>
              <a:buNone/>
            </a:pPr>
            <a:r>
              <a:rPr lang="en-US" sz="2325" b="1" dirty="0">
                <a:solidFill>
                  <a:srgbClr val="171A21"/>
                </a:solidFill>
                <a:latin typeface="Arial" pitchFamily="34" charset="0"/>
                <a:ea typeface="Arial" pitchFamily="34" charset="-122"/>
                <a:cs typeface="Arial" pitchFamily="34" charset="-120"/>
              </a:rPr>
              <a:t>Snooze </a:t>
            </a:r>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hoặc </a:t>
            </a:r>
            <a:pPr algn="l" indent="0" marL="0">
              <a:lnSpc>
                <a:spcPct val="129167"/>
              </a:lnSpc>
              <a:buNone/>
            </a:pPr>
            <a:r>
              <a:rPr lang="en-US" sz="2325" b="1" dirty="0">
                <a:solidFill>
                  <a:srgbClr val="171A21"/>
                </a:solidFill>
                <a:latin typeface="Arial" pitchFamily="34" charset="0"/>
                <a:ea typeface="Arial" pitchFamily="34" charset="-122"/>
                <a:cs typeface="Arial" pitchFamily="34" charset="-120"/>
              </a:rPr>
              <a:t>Dismiss</a:t>
            </a:r>
            <a:endParaRPr lang="en-US" sz="2325" dirty="0"/>
          </a:p>
        </p:txBody>
      </p:sp>
      <p:sp>
        <p:nvSpPr>
          <p:cNvPr id="8" name="Shape 6"/>
          <p:cNvSpPr/>
          <p:nvPr/>
        </p:nvSpPr>
        <p:spPr>
          <a:xfrm>
            <a:off x="952500" y="4895850"/>
            <a:ext cx="133350" cy="133350"/>
          </a:xfrm>
          <a:prstGeom prst="ellipse">
            <a:avLst/>
          </a:prstGeom>
          <a:solidFill>
            <a:srgbClr val="257D70"/>
          </a:solidFill>
          <a:ln/>
        </p:spPr>
      </p:sp>
      <p:sp>
        <p:nvSpPr>
          <p:cNvPr id="9" name="Text 7"/>
          <p:cNvSpPr/>
          <p:nvPr/>
        </p:nvSpPr>
        <p:spPr>
          <a:xfrm>
            <a:off x="1295400" y="4762500"/>
            <a:ext cx="8317662" cy="490538"/>
          </a:xfrm>
          <a:prstGeom prst="rect">
            <a:avLst/>
          </a:prstGeom>
          <a:noFill/>
          <a:ln/>
        </p:spPr>
        <p:txBody>
          <a:bodyPr wrap="square" lIns="25400" tIns="25400" rIns="25400" bIns="25400" rtlCol="0" anchor="t">
            <a:normAutofit/>
          </a:bodyPr>
          <a:lstStyle/>
          <a:p>
            <a:pPr algn="l" indent="0" marL="0">
              <a:lnSpc>
                <a:spcPct val="129167"/>
              </a:lnSpc>
              <a:buNone/>
            </a:pPr>
            <a:r>
              <a:rPr lang="en-US" sz="2325" b="1" dirty="0">
                <a:solidFill>
                  <a:srgbClr val="171A21"/>
                </a:solidFill>
                <a:latin typeface="Arial" pitchFamily="34" charset="0"/>
                <a:ea typeface="Arial" pitchFamily="34" charset="-122"/>
                <a:cs typeface="Arial" pitchFamily="34" charset="-120"/>
              </a:rPr>
              <a:t>Snooze 5 phút </a:t>
            </a:r>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 ngủ thêm một chút, chuông tự reo lại</a:t>
            </a:r>
            <a:endParaRPr lang="en-US" sz="2325" dirty="0"/>
          </a:p>
        </p:txBody>
      </p:sp>
      <p:sp>
        <p:nvSpPr>
          <p:cNvPr id="10" name="Shape 8"/>
          <p:cNvSpPr/>
          <p:nvPr/>
        </p:nvSpPr>
        <p:spPr>
          <a:xfrm>
            <a:off x="952500" y="5634038"/>
            <a:ext cx="133350" cy="133350"/>
          </a:xfrm>
          <a:prstGeom prst="ellipse">
            <a:avLst/>
          </a:prstGeom>
          <a:solidFill>
            <a:srgbClr val="C85C42"/>
          </a:solidFill>
          <a:ln/>
        </p:spPr>
      </p:sp>
      <p:sp>
        <p:nvSpPr>
          <p:cNvPr id="11" name="Text 9"/>
          <p:cNvSpPr/>
          <p:nvPr/>
        </p:nvSpPr>
        <p:spPr>
          <a:xfrm>
            <a:off x="1295400" y="5500688"/>
            <a:ext cx="8954762" cy="933450"/>
          </a:xfrm>
          <a:prstGeom prst="rect">
            <a:avLst/>
          </a:prstGeom>
          <a:noFill/>
          <a:ln/>
        </p:spPr>
        <p:txBody>
          <a:bodyPr wrap="square" lIns="25400" tIns="25400" rIns="25400" bIns="25400" rtlCol="0" anchor="t">
            <a:normAutofit/>
          </a:bodyPr>
          <a:lstStyle/>
          <a:p>
            <a:pPr algn="l" indent="0" marL="0">
              <a:lnSpc>
                <a:spcPct val="129167"/>
              </a:lnSpc>
              <a:buNone/>
            </a:pPr>
            <a:r>
              <a:rPr lang="en-US" sz="2325" b="1" dirty="0">
                <a:solidFill>
                  <a:srgbClr val="C85C42"/>
                </a:solidFill>
                <a:latin typeface="Arial" pitchFamily="34" charset="0"/>
                <a:ea typeface="Arial" pitchFamily="34" charset="-122"/>
                <a:cs typeface="Arial" pitchFamily="34" charset="-120"/>
              </a:rPr>
              <a:t>Math Challenge </a:t>
            </a:r>
            <a:pPr algn="l" indent="0" marL="0">
              <a:lnSpc>
                <a:spcPct val="129167"/>
              </a:lnSpc>
              <a:buNone/>
            </a:pPr>
            <a:r>
              <a:rPr lang="en-US" sz="2325" dirty="0">
                <a:solidFill>
                  <a:srgbClr val="171A21"/>
                </a:solidFill>
                <a:latin typeface="Arial" pitchFamily="34" charset="0"/>
                <a:ea typeface="Arial" pitchFamily="34" charset="-122"/>
                <a:cs typeface="Arial" pitchFamily="34" charset="-120"/>
              </a:rPr>
              <a:t>— giải phép cộng 2 số (10 – 49) mới tắt được chuông; trả lời sai ra đề mới</a:t>
            </a:r>
            <a:endParaRPr lang="en-US" sz="2325" dirty="0"/>
          </a:p>
        </p:txBody>
      </p:sp>
      <p:sp>
        <p:nvSpPr>
          <p:cNvPr id="12" name="Shape 10"/>
          <p:cNvSpPr/>
          <p:nvPr/>
        </p:nvSpPr>
        <p:spPr>
          <a:xfrm>
            <a:off x="11671697" y="2095500"/>
            <a:ext cx="4648200" cy="6191250"/>
          </a:xfrm>
          <a:prstGeom prst="roundRect">
            <a:avLst>
              <a:gd name="adj" fmla="val 9016"/>
            </a:avLst>
          </a:prstGeom>
          <a:solidFill>
            <a:srgbClr val="08131F"/>
          </a:solidFill>
          <a:ln/>
          <a:effectLst>
            <a:outerShdw sx="100000" sy="100000" kx="0" ky="0" algn="bl" rotWithShape="0" blurRad="571500" dist="285750" dir="5400000">
              <a:srgbClr val="08131F">
                <a:alpha val="30000"/>
              </a:srgbClr>
            </a:outerShdw>
          </a:effectLst>
        </p:spPr>
      </p:sp>
      <p:sp>
        <p:nvSpPr>
          <p:cNvPr id="13" name="Text 11"/>
          <p:cNvSpPr/>
          <p:nvPr/>
        </p:nvSpPr>
        <p:spPr>
          <a:xfrm>
            <a:off x="12776299" y="2514600"/>
            <a:ext cx="2682731" cy="333375"/>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C9B9F8"/>
                </a:solidFill>
                <a:latin typeface="Arial" pitchFamily="34" charset="0"/>
                <a:ea typeface="Arial" pitchFamily="34" charset="-122"/>
                <a:cs typeface="Arial" pitchFamily="34" charset="-120"/>
              </a:rPr>
              <a:t>BÁO THỨC · 06:30</a:t>
            </a:r>
            <a:endParaRPr lang="en-US" sz="1950" dirty="0"/>
          </a:p>
        </p:txBody>
      </p:sp>
      <p:sp>
        <p:nvSpPr>
          <p:cNvPr id="14" name="Text 12"/>
          <p:cNvSpPr/>
          <p:nvPr/>
        </p:nvSpPr>
        <p:spPr>
          <a:xfrm>
            <a:off x="13090029" y="3038475"/>
            <a:ext cx="1992690" cy="762000"/>
          </a:xfrm>
          <a:prstGeom prst="rect">
            <a:avLst/>
          </a:prstGeom>
          <a:noFill/>
          <a:ln/>
        </p:spPr>
        <p:txBody>
          <a:bodyPr wrap="square" lIns="25400" tIns="25400" rIns="25400" bIns="25400" rtlCol="0" anchor="t">
            <a:normAutofit/>
          </a:bodyPr>
          <a:lstStyle/>
          <a:p>
            <a:pPr algn="l" indent="0" marL="0">
              <a:lnSpc>
                <a:spcPct val="70370"/>
              </a:lnSpc>
              <a:buNone/>
            </a:pPr>
            <a:r>
              <a:rPr lang="en-US" sz="5700" b="1" dirty="0">
                <a:solidFill>
                  <a:srgbClr val="F6F7FB"/>
                </a:solidFill>
                <a:latin typeface="Arial" pitchFamily="34" charset="0"/>
                <a:ea typeface="Arial" pitchFamily="34" charset="-122"/>
                <a:cs typeface="Arial" pitchFamily="34" charset="-120"/>
              </a:rPr>
              <a:t>06:30</a:t>
            </a:r>
            <a:endParaRPr lang="en-US" sz="5700" dirty="0"/>
          </a:p>
        </p:txBody>
      </p:sp>
      <p:sp>
        <p:nvSpPr>
          <p:cNvPr id="15" name="Text 13"/>
          <p:cNvSpPr/>
          <p:nvPr/>
        </p:nvSpPr>
        <p:spPr>
          <a:xfrm>
            <a:off x="13593217" y="3990975"/>
            <a:ext cx="881211" cy="361950"/>
          </a:xfrm>
          <a:prstGeom prst="rect">
            <a:avLst/>
          </a:prstGeom>
          <a:noFill/>
          <a:ln/>
        </p:spPr>
        <p:txBody>
          <a:bodyPr wrap="square" lIns="25400" tIns="25400" rIns="25400" bIns="25400" rtlCol="0" anchor="t">
            <a:normAutofit/>
          </a:bodyPr>
          <a:lstStyle/>
          <a:p>
            <a:pPr algn="l" indent="0" marL="0">
              <a:buNone/>
            </a:pPr>
            <a:r>
              <a:rPr lang="en-US" sz="2025" dirty="0">
                <a:solidFill>
                  <a:srgbClr val="F6F7FB">
                    <a:alpha val="70000"/>
                  </a:srgbClr>
                </a:solidFill>
                <a:latin typeface="Arial" pitchFamily="34" charset="0"/>
                <a:ea typeface="Arial" pitchFamily="34" charset="-122"/>
                <a:cs typeface="Arial" pitchFamily="34" charset="-120"/>
              </a:rPr>
              <a:t>Đi học</a:t>
            </a:r>
            <a:endParaRPr lang="en-US" sz="2025" dirty="0"/>
          </a:p>
        </p:txBody>
      </p:sp>
      <p:sp>
        <p:nvSpPr>
          <p:cNvPr id="16" name="Shape 14"/>
          <p:cNvSpPr/>
          <p:nvPr/>
        </p:nvSpPr>
        <p:spPr>
          <a:xfrm>
            <a:off x="11995547" y="4543425"/>
            <a:ext cx="4000500" cy="2381250"/>
          </a:xfrm>
          <a:prstGeom prst="roundRect">
            <a:avLst>
              <a:gd name="adj" fmla="val 9600"/>
            </a:avLst>
          </a:prstGeom>
          <a:solidFill>
            <a:srgbClr val="C9B9F8">
              <a:alpha val="12000"/>
            </a:srgbClr>
          </a:solidFill>
          <a:ln w="9525">
            <a:solidFill>
              <a:srgbClr val="C9B9F8">
                <a:alpha val="40000"/>
              </a:srgbClr>
            </a:solidFill>
            <a:prstDash val="solid"/>
          </a:ln>
        </p:spPr>
      </p:sp>
      <p:sp>
        <p:nvSpPr>
          <p:cNvPr id="17" name="Text 15"/>
          <p:cNvSpPr/>
          <p:nvPr/>
        </p:nvSpPr>
        <p:spPr>
          <a:xfrm>
            <a:off x="12621816" y="4838700"/>
            <a:ext cx="3022595"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C9B9F8"/>
                </a:solidFill>
                <a:latin typeface="Arial" pitchFamily="34" charset="0"/>
                <a:ea typeface="Arial" pitchFamily="34" charset="-122"/>
                <a:cs typeface="Arial" pitchFamily="34" charset="-120"/>
              </a:rPr>
              <a:t>GIẢI ĐỂ TẮT CHUÔNG</a:t>
            </a:r>
            <a:endParaRPr lang="en-US" sz="1800" dirty="0"/>
          </a:p>
        </p:txBody>
      </p:sp>
      <p:sp>
        <p:nvSpPr>
          <p:cNvPr id="18" name="Text 16"/>
          <p:cNvSpPr/>
          <p:nvPr/>
        </p:nvSpPr>
        <p:spPr>
          <a:xfrm>
            <a:off x="12742664" y="5257800"/>
            <a:ext cx="2756892" cy="609600"/>
          </a:xfrm>
          <a:prstGeom prst="rect">
            <a:avLst/>
          </a:prstGeom>
          <a:noFill/>
          <a:ln/>
        </p:spPr>
        <p:txBody>
          <a:bodyPr wrap="square" lIns="25400" tIns="25400" rIns="25400" bIns="25400" rtlCol="0" anchor="t">
            <a:normAutofit/>
          </a:bodyPr>
          <a:lstStyle/>
          <a:p>
            <a:pPr algn="l" indent="0" marL="0">
              <a:buNone/>
            </a:pPr>
            <a:r>
              <a:rPr lang="en-US" sz="3900" b="1" dirty="0">
                <a:solidFill>
                  <a:srgbClr val="F6F7FB"/>
                </a:solidFill>
                <a:latin typeface="Arial" pitchFamily="34" charset="0"/>
                <a:ea typeface="Arial" pitchFamily="34" charset="-122"/>
                <a:cs typeface="Arial" pitchFamily="34" charset="-120"/>
              </a:rPr>
              <a:t>23 + 41 = ?</a:t>
            </a:r>
            <a:endParaRPr lang="en-US" sz="3900" dirty="0"/>
          </a:p>
        </p:txBody>
      </p:sp>
      <p:sp>
        <p:nvSpPr>
          <p:cNvPr id="19" name="Shape 17"/>
          <p:cNvSpPr/>
          <p:nvPr/>
        </p:nvSpPr>
        <p:spPr>
          <a:xfrm>
            <a:off x="13369975" y="5981700"/>
            <a:ext cx="1251645" cy="647700"/>
          </a:xfrm>
          <a:prstGeom prst="roundRect">
            <a:avLst>
              <a:gd name="adj" fmla="val 20588"/>
            </a:avLst>
          </a:prstGeom>
          <a:solidFill>
            <a:srgbClr val="08131F"/>
          </a:solidFill>
          <a:ln w="9525">
            <a:solidFill>
              <a:srgbClr val="F6F7FB">
                <a:alpha val="30000"/>
              </a:srgbClr>
            </a:solidFill>
            <a:prstDash val="solid"/>
          </a:ln>
        </p:spPr>
      </p:sp>
      <p:sp>
        <p:nvSpPr>
          <p:cNvPr id="20" name="Text 18"/>
          <p:cNvSpPr/>
          <p:nvPr/>
        </p:nvSpPr>
        <p:spPr>
          <a:xfrm>
            <a:off x="13760500" y="6105525"/>
            <a:ext cx="546795"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C9B9F8"/>
                </a:solidFill>
                <a:highlight>
                  <a:srgbClr val="08131F"/>
                </a:highlight>
                <a:latin typeface="Arial" pitchFamily="34" charset="0"/>
                <a:ea typeface="Arial" pitchFamily="34" charset="-122"/>
                <a:cs typeface="Arial" pitchFamily="34" charset="-120"/>
              </a:rPr>
              <a:t>64</a:t>
            </a:r>
            <a:pPr algn="l" indent="0" marL="0">
              <a:buNone/>
            </a:pPr>
            <a:r>
              <a:rPr lang="en-US" sz="2700" b="1" dirty="0">
                <a:solidFill>
                  <a:srgbClr val="C9B9F8"/>
                </a:solidFill>
                <a:latin typeface="Arial" pitchFamily="34" charset="0"/>
                <a:ea typeface="Arial" pitchFamily="34" charset="-122"/>
                <a:cs typeface="Arial" pitchFamily="34" charset="-120"/>
              </a:rPr>
              <a:t>|</a:t>
            </a:r>
            <a:endParaRPr lang="en-US" sz="2700" dirty="0"/>
          </a:p>
        </p:txBody>
      </p:sp>
      <p:sp>
        <p:nvSpPr>
          <p:cNvPr id="21" name="Shape 19"/>
          <p:cNvSpPr/>
          <p:nvPr/>
        </p:nvSpPr>
        <p:spPr>
          <a:xfrm>
            <a:off x="11995547" y="7153275"/>
            <a:ext cx="1933575" cy="714375"/>
          </a:xfrm>
          <a:prstGeom prst="roundRect">
            <a:avLst>
              <a:gd name="adj" fmla="val 26667"/>
            </a:avLst>
          </a:prstGeom>
          <a:ln w="19050">
            <a:solidFill>
              <a:srgbClr val="F6F7FB">
                <a:alpha val="40000"/>
              </a:srgbClr>
            </a:solidFill>
            <a:prstDash val="solid"/>
          </a:ln>
        </p:spPr>
      </p:sp>
      <p:sp>
        <p:nvSpPr>
          <p:cNvPr id="22" name="Text 20"/>
          <p:cNvSpPr/>
          <p:nvPr/>
        </p:nvSpPr>
        <p:spPr>
          <a:xfrm>
            <a:off x="11976497" y="7362825"/>
            <a:ext cx="1971675" cy="333375"/>
          </a:xfrm>
          <a:prstGeom prst="rect">
            <a:avLst/>
          </a:prstGeom>
          <a:noFill/>
          <a:ln/>
        </p:spPr>
        <p:txBody>
          <a:bodyPr wrap="square" lIns="25400" tIns="25400" rIns="25400" bIns="25400" rtlCol="0" anchor="t">
            <a:normAutofit/>
          </a:bodyPr>
          <a:lstStyle/>
          <a:p>
            <a:pPr algn="ctr" indent="0" marL="0">
              <a:buNone/>
            </a:pPr>
            <a:r>
              <a:rPr lang="en-US" sz="2025" b="1" dirty="0">
                <a:solidFill>
                  <a:srgbClr val="F6F7FB"/>
                </a:solidFill>
                <a:latin typeface="Arial" pitchFamily="34" charset="0"/>
                <a:ea typeface="Arial" pitchFamily="34" charset="-122"/>
                <a:cs typeface="Arial" pitchFamily="34" charset="-120"/>
              </a:rPr>
              <a:t>Snooze 5'</a:t>
            </a:r>
            <a:endParaRPr lang="en-US" sz="2025" dirty="0"/>
          </a:p>
        </p:txBody>
      </p:sp>
      <p:sp>
        <p:nvSpPr>
          <p:cNvPr id="23" name="Shape 21"/>
          <p:cNvSpPr/>
          <p:nvPr/>
        </p:nvSpPr>
        <p:spPr>
          <a:xfrm>
            <a:off x="14100572" y="7153275"/>
            <a:ext cx="1895475" cy="714375"/>
          </a:xfrm>
          <a:prstGeom prst="roundRect">
            <a:avLst>
              <a:gd name="adj" fmla="val 26667"/>
            </a:avLst>
          </a:prstGeom>
          <a:solidFill>
            <a:srgbClr val="C9B9F8"/>
          </a:solidFill>
          <a:ln/>
        </p:spPr>
      </p:sp>
      <p:sp>
        <p:nvSpPr>
          <p:cNvPr id="24" name="Text 22"/>
          <p:cNvSpPr/>
          <p:nvPr/>
        </p:nvSpPr>
        <p:spPr>
          <a:xfrm>
            <a:off x="14062472" y="7343775"/>
            <a:ext cx="1971675" cy="371475"/>
          </a:xfrm>
          <a:prstGeom prst="rect">
            <a:avLst/>
          </a:prstGeom>
          <a:noFill/>
          <a:ln/>
        </p:spPr>
        <p:txBody>
          <a:bodyPr wrap="square" lIns="25400" tIns="25400" rIns="25400" bIns="25400" rtlCol="0" anchor="t">
            <a:normAutofit/>
          </a:bodyPr>
          <a:lstStyle/>
          <a:p>
            <a:pPr algn="ctr" indent="0" marL="0">
              <a:buNone/>
            </a:pPr>
            <a:r>
              <a:rPr lang="en-US" sz="2025" b="1" dirty="0">
                <a:solidFill>
                  <a:srgbClr val="08131F"/>
                </a:solidFill>
                <a:latin typeface="Arial" pitchFamily="34" charset="0"/>
                <a:ea typeface="Arial" pitchFamily="34" charset="-122"/>
                <a:cs typeface="Arial" pitchFamily="34" charset="-120"/>
              </a:rPr>
              <a:t>Dismiss</a:t>
            </a:r>
            <a:endParaRPr lang="en-US" sz="20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131F"/>
        </a:solidFill>
      </p:bgPr>
    </p:bg>
    <p:spTree>
      <p:nvGrpSpPr>
        <p:cNvPr id="1" name=""/>
        <p:cNvGrpSpPr/>
        <p:nvPr/>
      </p:nvGrpSpPr>
      <p:grpSpPr>
        <a:xfrm>
          <a:off x="0" y="0"/>
          <a:ext cx="0" cy="0"/>
          <a:chOff x="0" y="0"/>
          <a:chExt cx="0" cy="0"/>
        </a:xfrm>
      </p:grpSpPr>
      <p:sp>
        <p:nvSpPr>
          <p:cNvPr id="2" name="Text 0"/>
          <p:cNvSpPr/>
          <p:nvPr/>
        </p:nvSpPr>
        <p:spPr>
          <a:xfrm>
            <a:off x="952500" y="857250"/>
            <a:ext cx="18021300"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C9B9F8"/>
                </a:solidFill>
                <a:latin typeface="Arial" pitchFamily="34" charset="0"/>
                <a:ea typeface="Arial" pitchFamily="34" charset="-122"/>
                <a:cs typeface="Arial" pitchFamily="34" charset="-120"/>
              </a:rPr>
              <a:t>09 · KIẾN TRÚC</a:t>
            </a:r>
            <a:endParaRPr lang="en-US" sz="1950" dirty="0"/>
          </a:p>
        </p:txBody>
      </p:sp>
      <p:sp>
        <p:nvSpPr>
          <p:cNvPr id="3" name="Text 1"/>
          <p:cNvSpPr/>
          <p:nvPr/>
        </p:nvSpPr>
        <p:spPr>
          <a:xfrm>
            <a:off x="952500" y="1266825"/>
            <a:ext cx="18021300"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F6F7FB"/>
                </a:solidFill>
                <a:latin typeface="Arial" pitchFamily="34" charset="0"/>
                <a:ea typeface="Arial" pitchFamily="34" charset="-122"/>
                <a:cs typeface="Arial" pitchFamily="34" charset="-120"/>
              </a:rPr>
              <a:t>Luồng hoạt động của một báo thức</a:t>
            </a:r>
            <a:endParaRPr lang="en-US" sz="4500" dirty="0"/>
          </a:p>
        </p:txBody>
      </p:sp>
      <p:sp>
        <p:nvSpPr>
          <p:cNvPr id="4" name="Text 2"/>
          <p:cNvSpPr/>
          <p:nvPr/>
        </p:nvSpPr>
        <p:spPr>
          <a:xfrm>
            <a:off x="952500" y="3886200"/>
            <a:ext cx="1990725"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6F7FB">
                    <a:alpha val="50000"/>
                  </a:srgbClr>
                </a:solidFill>
                <a:latin typeface="Arial" pitchFamily="34" charset="0"/>
                <a:ea typeface="Arial" pitchFamily="34" charset="-122"/>
                <a:cs typeface="Arial" pitchFamily="34" charset="-120"/>
              </a:rPr>
              <a:t>UI &amp; DỮ LIỆU</a:t>
            </a:r>
            <a:endParaRPr lang="en-US" sz="1800" dirty="0"/>
          </a:p>
        </p:txBody>
      </p:sp>
      <p:sp>
        <p:nvSpPr>
          <p:cNvPr id="5" name="Shape 3"/>
          <p:cNvSpPr/>
          <p:nvPr/>
        </p:nvSpPr>
        <p:spPr>
          <a:xfrm>
            <a:off x="2952750" y="3490913"/>
            <a:ext cx="3081338" cy="1057275"/>
          </a:xfrm>
          <a:prstGeom prst="roundRect">
            <a:avLst>
              <a:gd name="adj" fmla="val 16216"/>
            </a:avLst>
          </a:prstGeom>
          <a:solidFill>
            <a:srgbClr val="C9B9F8">
              <a:alpha val="10000"/>
            </a:srgbClr>
          </a:solidFill>
          <a:ln w="9525">
            <a:solidFill>
              <a:srgbClr val="C9B9F8">
                <a:alpha val="35000"/>
              </a:srgbClr>
            </a:solidFill>
            <a:prstDash val="solid"/>
          </a:ln>
        </p:spPr>
      </p:sp>
      <p:sp>
        <p:nvSpPr>
          <p:cNvPr id="6" name="Text 4"/>
          <p:cNvSpPr/>
          <p:nvPr/>
        </p:nvSpPr>
        <p:spPr>
          <a:xfrm>
            <a:off x="2934891" y="3709988"/>
            <a:ext cx="3117056" cy="333375"/>
          </a:xfrm>
          <a:prstGeom prst="rect">
            <a:avLst/>
          </a:prstGeom>
          <a:noFill/>
          <a:ln/>
        </p:spPr>
        <p:txBody>
          <a:bodyPr wrap="square" lIns="25400" tIns="25400" rIns="25400" bIns="25400" rtlCol="0" anchor="t">
            <a:normAutofit/>
          </a:bodyPr>
          <a:lstStyle/>
          <a:p>
            <a:pPr algn="ctr" indent="0" marL="0">
              <a:buNone/>
            </a:pPr>
            <a:r>
              <a:rPr lang="en-US" sz="2025" b="1" dirty="0">
                <a:solidFill>
                  <a:srgbClr val="F6F7FB"/>
                </a:solidFill>
                <a:latin typeface="Arial" pitchFamily="34" charset="0"/>
                <a:ea typeface="Arial" pitchFamily="34" charset="-122"/>
                <a:cs typeface="Arial" pitchFamily="34" charset="-120"/>
              </a:rPr>
              <a:t>AlarmFragment</a:t>
            </a:r>
            <a:endParaRPr lang="en-US" sz="2025" dirty="0"/>
          </a:p>
        </p:txBody>
      </p:sp>
      <p:sp>
        <p:nvSpPr>
          <p:cNvPr id="7" name="Text 5"/>
          <p:cNvSpPr/>
          <p:nvPr/>
        </p:nvSpPr>
        <p:spPr>
          <a:xfrm>
            <a:off x="2934891" y="4043363"/>
            <a:ext cx="3117056" cy="323850"/>
          </a:xfrm>
          <a:prstGeom prst="rect">
            <a:avLst/>
          </a:prstGeom>
          <a:noFill/>
          <a:ln/>
        </p:spPr>
        <p:txBody>
          <a:bodyPr wrap="square" lIns="25400" tIns="25400" rIns="25400" bIns="25400" rtlCol="0" anchor="t">
            <a:normAutofit/>
          </a:bodyPr>
          <a:lstStyle/>
          <a:p>
            <a:pPr algn="ctr" indent="0" marL="0">
              <a:buNone/>
            </a:pPr>
            <a:r>
              <a:rPr lang="en-US" sz="1800" dirty="0">
                <a:solidFill>
                  <a:srgbClr val="F6F7FB">
                    <a:alpha val="55000"/>
                  </a:srgbClr>
                </a:solidFill>
                <a:latin typeface="Arial" pitchFamily="34" charset="0"/>
                <a:ea typeface="Arial" pitchFamily="34" charset="-122"/>
                <a:cs typeface="Arial" pitchFamily="34" charset="-120"/>
              </a:rPr>
              <a:t>danh sách</a:t>
            </a:r>
            <a:endParaRPr lang="en-US" sz="1800" dirty="0"/>
          </a:p>
        </p:txBody>
      </p:sp>
      <p:sp>
        <p:nvSpPr>
          <p:cNvPr id="8" name="Text 6"/>
          <p:cNvSpPr/>
          <p:nvPr/>
        </p:nvSpPr>
        <p:spPr>
          <a:xfrm>
            <a:off x="6224588" y="3829050"/>
            <a:ext cx="381000" cy="419100"/>
          </a:xfrm>
          <a:prstGeom prst="rect">
            <a:avLst/>
          </a:prstGeom>
          <a:noFill/>
          <a:ln/>
        </p:spPr>
        <p:txBody>
          <a:bodyPr wrap="square" lIns="25400" tIns="25400" rIns="25400" bIns="25400" rtlCol="0" anchor="t">
            <a:normAutofit/>
          </a:bodyPr>
          <a:lstStyle/>
          <a:p>
            <a:pPr algn="l" indent="0" marL="0">
              <a:buNone/>
            </a:pPr>
            <a:r>
              <a:rPr lang="en-US" sz="2400" dirty="0">
                <a:solidFill>
                  <a:srgbClr val="C9B9F8"/>
                </a:solidFill>
                <a:latin typeface="Arial" pitchFamily="34" charset="0"/>
                <a:ea typeface="Arial" pitchFamily="34" charset="-122"/>
                <a:cs typeface="Arial" pitchFamily="34" charset="-120"/>
              </a:rPr>
              <a:t>→</a:t>
            </a:r>
            <a:endParaRPr lang="en-US" sz="2400" dirty="0"/>
          </a:p>
        </p:txBody>
      </p:sp>
      <p:sp>
        <p:nvSpPr>
          <p:cNvPr id="9" name="Shape 7"/>
          <p:cNvSpPr/>
          <p:nvPr/>
        </p:nvSpPr>
        <p:spPr>
          <a:xfrm>
            <a:off x="6719888" y="3490913"/>
            <a:ext cx="3081338" cy="1057275"/>
          </a:xfrm>
          <a:prstGeom prst="roundRect">
            <a:avLst>
              <a:gd name="adj" fmla="val 16216"/>
            </a:avLst>
          </a:prstGeom>
          <a:solidFill>
            <a:srgbClr val="C9B9F8">
              <a:alpha val="10000"/>
            </a:srgbClr>
          </a:solidFill>
          <a:ln w="9525">
            <a:solidFill>
              <a:srgbClr val="C9B9F8">
                <a:alpha val="35000"/>
              </a:srgbClr>
            </a:solidFill>
            <a:prstDash val="solid"/>
          </a:ln>
        </p:spPr>
      </p:sp>
      <p:sp>
        <p:nvSpPr>
          <p:cNvPr id="10" name="Text 8"/>
          <p:cNvSpPr/>
          <p:nvPr/>
        </p:nvSpPr>
        <p:spPr>
          <a:xfrm>
            <a:off x="6702028" y="3709988"/>
            <a:ext cx="3117056" cy="333375"/>
          </a:xfrm>
          <a:prstGeom prst="rect">
            <a:avLst/>
          </a:prstGeom>
          <a:noFill/>
          <a:ln/>
        </p:spPr>
        <p:txBody>
          <a:bodyPr wrap="square" lIns="25400" tIns="25400" rIns="25400" bIns="25400" rtlCol="0" anchor="t">
            <a:normAutofit/>
          </a:bodyPr>
          <a:lstStyle/>
          <a:p>
            <a:pPr algn="ctr" indent="0" marL="0">
              <a:buNone/>
            </a:pPr>
            <a:r>
              <a:rPr lang="en-US" sz="2025" b="1" dirty="0">
                <a:solidFill>
                  <a:srgbClr val="F6F7FB"/>
                </a:solidFill>
                <a:latin typeface="Arial" pitchFamily="34" charset="0"/>
                <a:ea typeface="Arial" pitchFamily="34" charset="-122"/>
                <a:cs typeface="Arial" pitchFamily="34" charset="-120"/>
              </a:rPr>
              <a:t>AlarmEditorActivity</a:t>
            </a:r>
            <a:endParaRPr lang="en-US" sz="2025" dirty="0"/>
          </a:p>
        </p:txBody>
      </p:sp>
      <p:sp>
        <p:nvSpPr>
          <p:cNvPr id="11" name="Text 9"/>
          <p:cNvSpPr/>
          <p:nvPr/>
        </p:nvSpPr>
        <p:spPr>
          <a:xfrm>
            <a:off x="6702028" y="4043363"/>
            <a:ext cx="3117056" cy="323850"/>
          </a:xfrm>
          <a:prstGeom prst="rect">
            <a:avLst/>
          </a:prstGeom>
          <a:noFill/>
          <a:ln/>
        </p:spPr>
        <p:txBody>
          <a:bodyPr wrap="square" lIns="25400" tIns="25400" rIns="25400" bIns="25400" rtlCol="0" anchor="t">
            <a:normAutofit/>
          </a:bodyPr>
          <a:lstStyle/>
          <a:p>
            <a:pPr algn="ctr" indent="0" marL="0">
              <a:buNone/>
            </a:pPr>
            <a:r>
              <a:rPr lang="en-US" sz="1800" dirty="0">
                <a:solidFill>
                  <a:srgbClr val="F6F7FB">
                    <a:alpha val="55000"/>
                  </a:srgbClr>
                </a:solidFill>
                <a:latin typeface="Arial" pitchFamily="34" charset="0"/>
                <a:ea typeface="Arial" pitchFamily="34" charset="-122"/>
                <a:cs typeface="Arial" pitchFamily="34" charset="-120"/>
              </a:rPr>
              <a:t>thêm / sửa</a:t>
            </a:r>
            <a:endParaRPr lang="en-US" sz="1800" dirty="0"/>
          </a:p>
        </p:txBody>
      </p:sp>
      <p:sp>
        <p:nvSpPr>
          <p:cNvPr id="12" name="Text 10"/>
          <p:cNvSpPr/>
          <p:nvPr/>
        </p:nvSpPr>
        <p:spPr>
          <a:xfrm>
            <a:off x="9991725" y="3829050"/>
            <a:ext cx="381000" cy="419100"/>
          </a:xfrm>
          <a:prstGeom prst="rect">
            <a:avLst/>
          </a:prstGeom>
          <a:noFill/>
          <a:ln/>
        </p:spPr>
        <p:txBody>
          <a:bodyPr wrap="square" lIns="25400" tIns="25400" rIns="25400" bIns="25400" rtlCol="0" anchor="t">
            <a:normAutofit/>
          </a:bodyPr>
          <a:lstStyle/>
          <a:p>
            <a:pPr algn="l" indent="0" marL="0">
              <a:buNone/>
            </a:pPr>
            <a:r>
              <a:rPr lang="en-US" sz="2400" dirty="0">
                <a:solidFill>
                  <a:srgbClr val="C9B9F8"/>
                </a:solidFill>
                <a:latin typeface="Arial" pitchFamily="34" charset="0"/>
                <a:ea typeface="Arial" pitchFamily="34" charset="-122"/>
                <a:cs typeface="Arial" pitchFamily="34" charset="-120"/>
              </a:rPr>
              <a:t>→</a:t>
            </a:r>
            <a:endParaRPr lang="en-US" sz="2400" dirty="0"/>
          </a:p>
        </p:txBody>
      </p:sp>
      <p:sp>
        <p:nvSpPr>
          <p:cNvPr id="13" name="Shape 11"/>
          <p:cNvSpPr/>
          <p:nvPr/>
        </p:nvSpPr>
        <p:spPr>
          <a:xfrm>
            <a:off x="10487025" y="3490913"/>
            <a:ext cx="3081338" cy="1057275"/>
          </a:xfrm>
          <a:prstGeom prst="roundRect">
            <a:avLst>
              <a:gd name="adj" fmla="val 16216"/>
            </a:avLst>
          </a:prstGeom>
          <a:solidFill>
            <a:srgbClr val="C9B9F8">
              <a:alpha val="10000"/>
            </a:srgbClr>
          </a:solidFill>
          <a:ln w="9525">
            <a:solidFill>
              <a:srgbClr val="C9B9F8">
                <a:alpha val="35000"/>
              </a:srgbClr>
            </a:solidFill>
            <a:prstDash val="solid"/>
          </a:ln>
        </p:spPr>
      </p:sp>
      <p:sp>
        <p:nvSpPr>
          <p:cNvPr id="14" name="Text 12"/>
          <p:cNvSpPr/>
          <p:nvPr/>
        </p:nvSpPr>
        <p:spPr>
          <a:xfrm>
            <a:off x="10469166" y="3709988"/>
            <a:ext cx="3117056" cy="333375"/>
          </a:xfrm>
          <a:prstGeom prst="rect">
            <a:avLst/>
          </a:prstGeom>
          <a:noFill/>
          <a:ln/>
        </p:spPr>
        <p:txBody>
          <a:bodyPr wrap="square" lIns="25400" tIns="25400" rIns="25400" bIns="25400" rtlCol="0" anchor="t">
            <a:normAutofit/>
          </a:bodyPr>
          <a:lstStyle/>
          <a:p>
            <a:pPr algn="ctr" indent="0" marL="0">
              <a:buNone/>
            </a:pPr>
            <a:r>
              <a:rPr lang="en-US" sz="2025" b="1" dirty="0">
                <a:solidFill>
                  <a:srgbClr val="F6F7FB"/>
                </a:solidFill>
                <a:latin typeface="Arial" pitchFamily="34" charset="0"/>
                <a:ea typeface="Arial" pitchFamily="34" charset="-122"/>
                <a:cs typeface="Arial" pitchFamily="34" charset="-120"/>
              </a:rPr>
              <a:t>AlarmDao</a:t>
            </a:r>
            <a:endParaRPr lang="en-US" sz="2025" dirty="0"/>
          </a:p>
        </p:txBody>
      </p:sp>
      <p:sp>
        <p:nvSpPr>
          <p:cNvPr id="15" name="Text 13"/>
          <p:cNvSpPr/>
          <p:nvPr/>
        </p:nvSpPr>
        <p:spPr>
          <a:xfrm>
            <a:off x="10469166" y="4043363"/>
            <a:ext cx="3117056" cy="323850"/>
          </a:xfrm>
          <a:prstGeom prst="rect">
            <a:avLst/>
          </a:prstGeom>
          <a:noFill/>
          <a:ln/>
        </p:spPr>
        <p:txBody>
          <a:bodyPr wrap="square" lIns="25400" tIns="25400" rIns="25400" bIns="25400" rtlCol="0" anchor="t">
            <a:normAutofit/>
          </a:bodyPr>
          <a:lstStyle/>
          <a:p>
            <a:pPr algn="ctr" indent="0" marL="0">
              <a:buNone/>
            </a:pPr>
            <a:r>
              <a:rPr lang="en-US" sz="1800" dirty="0">
                <a:solidFill>
                  <a:srgbClr val="F6F7FB">
                    <a:alpha val="55000"/>
                  </a:srgbClr>
                </a:solidFill>
                <a:latin typeface="Arial" pitchFamily="34" charset="0"/>
                <a:ea typeface="Arial" pitchFamily="34" charset="-122"/>
                <a:cs typeface="Arial" pitchFamily="34" charset="-120"/>
              </a:rPr>
              <a:t>CRUD</a:t>
            </a:r>
            <a:endParaRPr lang="en-US" sz="1800" dirty="0"/>
          </a:p>
        </p:txBody>
      </p:sp>
      <p:sp>
        <p:nvSpPr>
          <p:cNvPr id="16" name="Text 14"/>
          <p:cNvSpPr/>
          <p:nvPr/>
        </p:nvSpPr>
        <p:spPr>
          <a:xfrm>
            <a:off x="13758863" y="3829050"/>
            <a:ext cx="381000" cy="419100"/>
          </a:xfrm>
          <a:prstGeom prst="rect">
            <a:avLst/>
          </a:prstGeom>
          <a:noFill/>
          <a:ln/>
        </p:spPr>
        <p:txBody>
          <a:bodyPr wrap="square" lIns="25400" tIns="25400" rIns="25400" bIns="25400" rtlCol="0" anchor="t">
            <a:normAutofit/>
          </a:bodyPr>
          <a:lstStyle/>
          <a:p>
            <a:pPr algn="l" indent="0" marL="0">
              <a:buNone/>
            </a:pPr>
            <a:r>
              <a:rPr lang="en-US" sz="2400" dirty="0">
                <a:solidFill>
                  <a:srgbClr val="C9B9F8"/>
                </a:solidFill>
                <a:latin typeface="Arial" pitchFamily="34" charset="0"/>
                <a:ea typeface="Arial" pitchFamily="34" charset="-122"/>
                <a:cs typeface="Arial" pitchFamily="34" charset="-120"/>
              </a:rPr>
              <a:t>→</a:t>
            </a:r>
            <a:endParaRPr lang="en-US" sz="2400" dirty="0"/>
          </a:p>
        </p:txBody>
      </p:sp>
      <p:sp>
        <p:nvSpPr>
          <p:cNvPr id="17" name="Shape 15"/>
          <p:cNvSpPr/>
          <p:nvPr/>
        </p:nvSpPr>
        <p:spPr>
          <a:xfrm>
            <a:off x="14254163" y="3490913"/>
            <a:ext cx="3081338" cy="1057275"/>
          </a:xfrm>
          <a:prstGeom prst="roundRect">
            <a:avLst>
              <a:gd name="adj" fmla="val 16216"/>
            </a:avLst>
          </a:prstGeom>
          <a:solidFill>
            <a:srgbClr val="C9B9F8">
              <a:alpha val="10000"/>
            </a:srgbClr>
          </a:solidFill>
          <a:ln w="9525">
            <a:solidFill>
              <a:srgbClr val="C9B9F8">
                <a:alpha val="35000"/>
              </a:srgbClr>
            </a:solidFill>
            <a:prstDash val="solid"/>
          </a:ln>
        </p:spPr>
      </p:sp>
      <p:sp>
        <p:nvSpPr>
          <p:cNvPr id="18" name="Text 16"/>
          <p:cNvSpPr/>
          <p:nvPr/>
        </p:nvSpPr>
        <p:spPr>
          <a:xfrm>
            <a:off x="14236303" y="3709988"/>
            <a:ext cx="3117056" cy="333375"/>
          </a:xfrm>
          <a:prstGeom prst="rect">
            <a:avLst/>
          </a:prstGeom>
          <a:noFill/>
          <a:ln/>
        </p:spPr>
        <p:txBody>
          <a:bodyPr wrap="square" lIns="25400" tIns="25400" rIns="25400" bIns="25400" rtlCol="0" anchor="t">
            <a:normAutofit/>
          </a:bodyPr>
          <a:lstStyle/>
          <a:p>
            <a:pPr algn="ctr" indent="0" marL="0">
              <a:buNone/>
            </a:pPr>
            <a:r>
              <a:rPr lang="en-US" sz="2025" b="1" dirty="0">
                <a:solidFill>
                  <a:srgbClr val="F6F7FB"/>
                </a:solidFill>
                <a:latin typeface="Arial" pitchFamily="34" charset="0"/>
                <a:ea typeface="Arial" pitchFamily="34" charset="-122"/>
                <a:cs typeface="Arial" pitchFamily="34" charset="-120"/>
              </a:rPr>
              <a:t>SQLite</a:t>
            </a:r>
            <a:endParaRPr lang="en-US" sz="2025" dirty="0"/>
          </a:p>
        </p:txBody>
      </p:sp>
      <p:sp>
        <p:nvSpPr>
          <p:cNvPr id="19" name="Text 17"/>
          <p:cNvSpPr/>
          <p:nvPr/>
        </p:nvSpPr>
        <p:spPr>
          <a:xfrm>
            <a:off x="14236303" y="4043363"/>
            <a:ext cx="3117056" cy="323850"/>
          </a:xfrm>
          <a:prstGeom prst="rect">
            <a:avLst/>
          </a:prstGeom>
          <a:noFill/>
          <a:ln/>
        </p:spPr>
        <p:txBody>
          <a:bodyPr wrap="square" lIns="25400" tIns="25400" rIns="25400" bIns="25400" rtlCol="0" anchor="t">
            <a:normAutofit/>
          </a:bodyPr>
          <a:lstStyle/>
          <a:p>
            <a:pPr algn="ctr" indent="0" marL="0">
              <a:buNone/>
            </a:pPr>
            <a:r>
              <a:rPr lang="en-US" sz="1800" dirty="0">
                <a:solidFill>
                  <a:srgbClr val="F6F7FB">
                    <a:alpha val="55000"/>
                  </a:srgbClr>
                </a:solidFill>
                <a:latin typeface="Arial" pitchFamily="34" charset="0"/>
                <a:ea typeface="Arial" pitchFamily="34" charset="-122"/>
                <a:cs typeface="Arial" pitchFamily="34" charset="-120"/>
              </a:rPr>
              <a:t>lưu trữ</a:t>
            </a:r>
            <a:endParaRPr lang="en-US" sz="1800" dirty="0"/>
          </a:p>
        </p:txBody>
      </p:sp>
      <p:sp>
        <p:nvSpPr>
          <p:cNvPr id="20" name="Text 18"/>
          <p:cNvSpPr/>
          <p:nvPr/>
        </p:nvSpPr>
        <p:spPr>
          <a:xfrm>
            <a:off x="16021050" y="4643438"/>
            <a:ext cx="247650" cy="476250"/>
          </a:xfrm>
          <a:prstGeom prst="rect">
            <a:avLst/>
          </a:prstGeom>
          <a:noFill/>
          <a:ln/>
        </p:spPr>
        <p:txBody>
          <a:bodyPr wrap="square" lIns="25400" tIns="25400" rIns="25400" bIns="25400" rtlCol="0" anchor="t">
            <a:normAutofit/>
          </a:bodyPr>
          <a:lstStyle/>
          <a:p>
            <a:pPr algn="l" indent="0" marL="0">
              <a:buNone/>
            </a:pPr>
            <a:r>
              <a:rPr lang="en-US" sz="2700" dirty="0">
                <a:solidFill>
                  <a:srgbClr val="C9B9F8"/>
                </a:solidFill>
                <a:latin typeface="Arial" pitchFamily="34" charset="0"/>
                <a:ea typeface="Arial" pitchFamily="34" charset="-122"/>
                <a:cs typeface="Arial" pitchFamily="34" charset="-120"/>
              </a:rPr>
              <a:t>↓</a:t>
            </a:r>
            <a:endParaRPr lang="en-US" sz="2700" dirty="0"/>
          </a:p>
        </p:txBody>
      </p:sp>
      <p:sp>
        <p:nvSpPr>
          <p:cNvPr id="21" name="Text 19"/>
          <p:cNvSpPr/>
          <p:nvPr/>
        </p:nvSpPr>
        <p:spPr>
          <a:xfrm>
            <a:off x="952500" y="5572125"/>
            <a:ext cx="1990725"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6F7FB">
                    <a:alpha val="50000"/>
                  </a:srgbClr>
                </a:solidFill>
                <a:latin typeface="Arial" pitchFamily="34" charset="0"/>
                <a:ea typeface="Arial" pitchFamily="34" charset="-122"/>
                <a:cs typeface="Arial" pitchFamily="34" charset="-120"/>
              </a:rPr>
              <a:t>ĐẶT LỊCH</a:t>
            </a:r>
            <a:endParaRPr lang="en-US" sz="1800" dirty="0"/>
          </a:p>
        </p:txBody>
      </p:sp>
      <p:sp>
        <p:nvSpPr>
          <p:cNvPr id="22" name="Shape 20"/>
          <p:cNvSpPr/>
          <p:nvPr/>
        </p:nvSpPr>
        <p:spPr>
          <a:xfrm>
            <a:off x="2952750" y="5176838"/>
            <a:ext cx="4337000" cy="1057275"/>
          </a:xfrm>
          <a:prstGeom prst="roundRect">
            <a:avLst>
              <a:gd name="adj" fmla="val 16216"/>
            </a:avLst>
          </a:prstGeom>
          <a:solidFill>
            <a:srgbClr val="C9B9F8">
              <a:alpha val="10000"/>
            </a:srgbClr>
          </a:solidFill>
          <a:ln w="9525">
            <a:solidFill>
              <a:srgbClr val="C9B9F8">
                <a:alpha val="35000"/>
              </a:srgbClr>
            </a:solidFill>
            <a:prstDash val="solid"/>
          </a:ln>
        </p:spPr>
      </p:sp>
      <p:sp>
        <p:nvSpPr>
          <p:cNvPr id="23" name="Text 21"/>
          <p:cNvSpPr/>
          <p:nvPr/>
        </p:nvSpPr>
        <p:spPr>
          <a:xfrm>
            <a:off x="2872107" y="5395913"/>
            <a:ext cx="4498285" cy="333375"/>
          </a:xfrm>
          <a:prstGeom prst="rect">
            <a:avLst/>
          </a:prstGeom>
          <a:noFill/>
          <a:ln/>
        </p:spPr>
        <p:txBody>
          <a:bodyPr wrap="square" lIns="25400" tIns="25400" rIns="25400" bIns="25400" rtlCol="0" anchor="t">
            <a:normAutofit/>
          </a:bodyPr>
          <a:lstStyle/>
          <a:p>
            <a:pPr algn="ctr" indent="0" marL="0">
              <a:buNone/>
            </a:pPr>
            <a:r>
              <a:rPr lang="en-US" sz="2025" b="1" dirty="0">
                <a:solidFill>
                  <a:srgbClr val="F6F7FB"/>
                </a:solidFill>
                <a:latin typeface="Arial" pitchFamily="34" charset="0"/>
                <a:ea typeface="Arial" pitchFamily="34" charset="-122"/>
                <a:cs typeface="Arial" pitchFamily="34" charset="-120"/>
              </a:rPr>
              <a:t>AlarmScheduler</a:t>
            </a:r>
            <a:endParaRPr lang="en-US" sz="2025" dirty="0"/>
          </a:p>
        </p:txBody>
      </p:sp>
      <p:sp>
        <p:nvSpPr>
          <p:cNvPr id="24" name="Text 22"/>
          <p:cNvSpPr/>
          <p:nvPr/>
        </p:nvSpPr>
        <p:spPr>
          <a:xfrm>
            <a:off x="2872107" y="5729288"/>
            <a:ext cx="4498285" cy="323850"/>
          </a:xfrm>
          <a:prstGeom prst="rect">
            <a:avLst/>
          </a:prstGeom>
          <a:noFill/>
          <a:ln/>
        </p:spPr>
        <p:txBody>
          <a:bodyPr wrap="square" lIns="25400" tIns="25400" rIns="25400" bIns="25400" rtlCol="0" anchor="t">
            <a:normAutofit/>
          </a:bodyPr>
          <a:lstStyle/>
          <a:p>
            <a:pPr algn="ctr" indent="0" marL="0">
              <a:buNone/>
            </a:pPr>
            <a:r>
              <a:rPr lang="en-US" sz="1800" dirty="0">
                <a:solidFill>
                  <a:srgbClr val="F6F7FB">
                    <a:alpha val="55000"/>
                  </a:srgbClr>
                </a:solidFill>
                <a:latin typeface="Arial" pitchFamily="34" charset="0"/>
                <a:ea typeface="Arial" pitchFamily="34" charset="-122"/>
                <a:cs typeface="Arial" pitchFamily="34" charset="-120"/>
              </a:rPr>
              <a:t>tính giờ kế tiếp</a:t>
            </a:r>
            <a:endParaRPr lang="en-US" sz="1800" dirty="0"/>
          </a:p>
        </p:txBody>
      </p:sp>
      <p:sp>
        <p:nvSpPr>
          <p:cNvPr id="25" name="Text 23"/>
          <p:cNvSpPr/>
          <p:nvPr/>
        </p:nvSpPr>
        <p:spPr>
          <a:xfrm>
            <a:off x="7480250" y="5514975"/>
            <a:ext cx="381000" cy="419100"/>
          </a:xfrm>
          <a:prstGeom prst="rect">
            <a:avLst/>
          </a:prstGeom>
          <a:noFill/>
          <a:ln/>
        </p:spPr>
        <p:txBody>
          <a:bodyPr wrap="square" lIns="25400" tIns="25400" rIns="25400" bIns="25400" rtlCol="0" anchor="t">
            <a:normAutofit/>
          </a:bodyPr>
          <a:lstStyle/>
          <a:p>
            <a:pPr algn="l" indent="0" marL="0">
              <a:buNone/>
            </a:pPr>
            <a:r>
              <a:rPr lang="en-US" sz="2400" dirty="0">
                <a:solidFill>
                  <a:srgbClr val="C9B9F8"/>
                </a:solidFill>
                <a:latin typeface="Arial" pitchFamily="34" charset="0"/>
                <a:ea typeface="Arial" pitchFamily="34" charset="-122"/>
                <a:cs typeface="Arial" pitchFamily="34" charset="-120"/>
              </a:rPr>
              <a:t>→</a:t>
            </a:r>
            <a:endParaRPr lang="en-US" sz="2400" dirty="0"/>
          </a:p>
        </p:txBody>
      </p:sp>
      <p:sp>
        <p:nvSpPr>
          <p:cNvPr id="26" name="Shape 24"/>
          <p:cNvSpPr/>
          <p:nvPr/>
        </p:nvSpPr>
        <p:spPr>
          <a:xfrm>
            <a:off x="7975550" y="5176838"/>
            <a:ext cx="4337149" cy="1057275"/>
          </a:xfrm>
          <a:prstGeom prst="roundRect">
            <a:avLst>
              <a:gd name="adj" fmla="val 16216"/>
            </a:avLst>
          </a:prstGeom>
          <a:solidFill>
            <a:srgbClr val="C9B9F8">
              <a:alpha val="22000"/>
            </a:srgbClr>
          </a:solidFill>
          <a:ln w="9525">
            <a:solidFill>
              <a:srgbClr val="C9B9F8"/>
            </a:solidFill>
            <a:prstDash val="solid"/>
          </a:ln>
        </p:spPr>
      </p:sp>
      <p:sp>
        <p:nvSpPr>
          <p:cNvPr id="27" name="Text 25"/>
          <p:cNvSpPr/>
          <p:nvPr/>
        </p:nvSpPr>
        <p:spPr>
          <a:xfrm>
            <a:off x="7894900" y="5395913"/>
            <a:ext cx="4498449" cy="333375"/>
          </a:xfrm>
          <a:prstGeom prst="rect">
            <a:avLst/>
          </a:prstGeom>
          <a:noFill/>
          <a:ln/>
        </p:spPr>
        <p:txBody>
          <a:bodyPr wrap="square" lIns="25400" tIns="25400" rIns="25400" bIns="25400" rtlCol="0" anchor="t">
            <a:normAutofit/>
          </a:bodyPr>
          <a:lstStyle/>
          <a:p>
            <a:pPr algn="ctr" indent="0" marL="0">
              <a:buNone/>
            </a:pPr>
            <a:r>
              <a:rPr lang="en-US" sz="2025" b="1" dirty="0">
                <a:solidFill>
                  <a:srgbClr val="C9B9F8"/>
                </a:solidFill>
                <a:latin typeface="Arial" pitchFamily="34" charset="0"/>
                <a:ea typeface="Arial" pitchFamily="34" charset="-122"/>
                <a:cs typeface="Arial" pitchFamily="34" charset="-120"/>
              </a:rPr>
              <a:t>AlarmManager</a:t>
            </a:r>
            <a:endParaRPr lang="en-US" sz="2025" dirty="0"/>
          </a:p>
        </p:txBody>
      </p:sp>
      <p:sp>
        <p:nvSpPr>
          <p:cNvPr id="28" name="Text 26"/>
          <p:cNvSpPr/>
          <p:nvPr/>
        </p:nvSpPr>
        <p:spPr>
          <a:xfrm>
            <a:off x="7894900" y="5729288"/>
            <a:ext cx="4498449" cy="323850"/>
          </a:xfrm>
          <a:prstGeom prst="rect">
            <a:avLst/>
          </a:prstGeom>
          <a:noFill/>
          <a:ln/>
        </p:spPr>
        <p:txBody>
          <a:bodyPr wrap="square" lIns="25400" tIns="25400" rIns="25400" bIns="25400" rtlCol="0" anchor="t">
            <a:normAutofit/>
          </a:bodyPr>
          <a:lstStyle/>
          <a:p>
            <a:pPr algn="ctr" indent="0" marL="0">
              <a:buNone/>
            </a:pPr>
            <a:r>
              <a:rPr lang="en-US" sz="1800" dirty="0">
                <a:solidFill>
                  <a:srgbClr val="F6F7FB">
                    <a:alpha val="55000"/>
                  </a:srgbClr>
                </a:solidFill>
                <a:latin typeface="Arial" pitchFamily="34" charset="0"/>
                <a:ea typeface="Arial" pitchFamily="34" charset="-122"/>
                <a:cs typeface="Arial" pitchFamily="34" charset="-120"/>
              </a:rPr>
              <a:t>setExactAndAllowWhileIdle</a:t>
            </a:r>
            <a:endParaRPr lang="en-US" sz="1800" dirty="0"/>
          </a:p>
        </p:txBody>
      </p:sp>
      <p:sp>
        <p:nvSpPr>
          <p:cNvPr id="29" name="Text 27"/>
          <p:cNvSpPr/>
          <p:nvPr/>
        </p:nvSpPr>
        <p:spPr>
          <a:xfrm>
            <a:off x="12503200" y="5514975"/>
            <a:ext cx="381000" cy="419100"/>
          </a:xfrm>
          <a:prstGeom prst="rect">
            <a:avLst/>
          </a:prstGeom>
          <a:noFill/>
          <a:ln/>
        </p:spPr>
        <p:txBody>
          <a:bodyPr wrap="square" lIns="25400" tIns="25400" rIns="25400" bIns="25400" rtlCol="0" anchor="t">
            <a:normAutofit/>
          </a:bodyPr>
          <a:lstStyle/>
          <a:p>
            <a:pPr algn="l" indent="0" marL="0">
              <a:buNone/>
            </a:pPr>
            <a:r>
              <a:rPr lang="en-US" sz="2400" dirty="0">
                <a:solidFill>
                  <a:srgbClr val="C9B9F8"/>
                </a:solidFill>
                <a:latin typeface="Arial" pitchFamily="34" charset="0"/>
                <a:ea typeface="Arial" pitchFamily="34" charset="-122"/>
                <a:cs typeface="Arial" pitchFamily="34" charset="-120"/>
              </a:rPr>
              <a:t>→</a:t>
            </a:r>
            <a:endParaRPr lang="en-US" sz="2400" dirty="0"/>
          </a:p>
        </p:txBody>
      </p:sp>
      <p:sp>
        <p:nvSpPr>
          <p:cNvPr id="30" name="Shape 28"/>
          <p:cNvSpPr/>
          <p:nvPr/>
        </p:nvSpPr>
        <p:spPr>
          <a:xfrm>
            <a:off x="12998500" y="5176838"/>
            <a:ext cx="4337000" cy="1057275"/>
          </a:xfrm>
          <a:prstGeom prst="roundRect">
            <a:avLst>
              <a:gd name="adj" fmla="val 16216"/>
            </a:avLst>
          </a:prstGeom>
          <a:solidFill>
            <a:srgbClr val="C9B9F8">
              <a:alpha val="10000"/>
            </a:srgbClr>
          </a:solidFill>
          <a:ln w="9525">
            <a:solidFill>
              <a:srgbClr val="C9B9F8">
                <a:alpha val="35000"/>
              </a:srgbClr>
            </a:solidFill>
            <a:prstDash val="solid"/>
          </a:ln>
        </p:spPr>
      </p:sp>
      <p:sp>
        <p:nvSpPr>
          <p:cNvPr id="31" name="Text 29"/>
          <p:cNvSpPr/>
          <p:nvPr/>
        </p:nvSpPr>
        <p:spPr>
          <a:xfrm>
            <a:off x="12917857" y="5395913"/>
            <a:ext cx="4498285" cy="333375"/>
          </a:xfrm>
          <a:prstGeom prst="rect">
            <a:avLst/>
          </a:prstGeom>
          <a:noFill/>
          <a:ln/>
        </p:spPr>
        <p:txBody>
          <a:bodyPr wrap="square" lIns="25400" tIns="25400" rIns="25400" bIns="25400" rtlCol="0" anchor="t">
            <a:normAutofit/>
          </a:bodyPr>
          <a:lstStyle/>
          <a:p>
            <a:pPr algn="ctr" indent="0" marL="0">
              <a:buNone/>
            </a:pPr>
            <a:r>
              <a:rPr lang="en-US" sz="2025" b="1" dirty="0">
                <a:solidFill>
                  <a:srgbClr val="F6F7FB"/>
                </a:solidFill>
                <a:latin typeface="Arial" pitchFamily="34" charset="0"/>
                <a:ea typeface="Arial" pitchFamily="34" charset="-122"/>
                <a:cs typeface="Arial" pitchFamily="34" charset="-120"/>
              </a:rPr>
              <a:t>AlarmReceiver</a:t>
            </a:r>
            <a:endParaRPr lang="en-US" sz="2025" dirty="0"/>
          </a:p>
        </p:txBody>
      </p:sp>
      <p:sp>
        <p:nvSpPr>
          <p:cNvPr id="32" name="Text 30"/>
          <p:cNvSpPr/>
          <p:nvPr/>
        </p:nvSpPr>
        <p:spPr>
          <a:xfrm>
            <a:off x="12917857" y="5729288"/>
            <a:ext cx="4498285" cy="323850"/>
          </a:xfrm>
          <a:prstGeom prst="rect">
            <a:avLst/>
          </a:prstGeom>
          <a:noFill/>
          <a:ln/>
        </p:spPr>
        <p:txBody>
          <a:bodyPr wrap="square" lIns="25400" tIns="25400" rIns="25400" bIns="25400" rtlCol="0" anchor="t">
            <a:normAutofit/>
          </a:bodyPr>
          <a:lstStyle/>
          <a:p>
            <a:pPr algn="ctr" indent="0" marL="0">
              <a:buNone/>
            </a:pPr>
            <a:r>
              <a:rPr lang="en-US" sz="1800" dirty="0">
                <a:solidFill>
                  <a:srgbClr val="F6F7FB">
                    <a:alpha val="55000"/>
                  </a:srgbClr>
                </a:solidFill>
                <a:latin typeface="Arial" pitchFamily="34" charset="0"/>
                <a:ea typeface="Arial" pitchFamily="34" charset="-122"/>
                <a:cs typeface="Arial" pitchFamily="34" charset="-120"/>
              </a:rPr>
              <a:t>BroadcastReceiver</a:t>
            </a:r>
            <a:endParaRPr lang="en-US" sz="1800" dirty="0"/>
          </a:p>
        </p:txBody>
      </p:sp>
      <p:sp>
        <p:nvSpPr>
          <p:cNvPr id="33" name="Text 31"/>
          <p:cNvSpPr/>
          <p:nvPr/>
        </p:nvSpPr>
        <p:spPr>
          <a:xfrm>
            <a:off x="16021050" y="6329363"/>
            <a:ext cx="247650" cy="476250"/>
          </a:xfrm>
          <a:prstGeom prst="rect">
            <a:avLst/>
          </a:prstGeom>
          <a:noFill/>
          <a:ln/>
        </p:spPr>
        <p:txBody>
          <a:bodyPr wrap="square" lIns="25400" tIns="25400" rIns="25400" bIns="25400" rtlCol="0" anchor="t">
            <a:normAutofit/>
          </a:bodyPr>
          <a:lstStyle/>
          <a:p>
            <a:pPr algn="l" indent="0" marL="0">
              <a:buNone/>
            </a:pPr>
            <a:r>
              <a:rPr lang="en-US" sz="2700" dirty="0">
                <a:solidFill>
                  <a:srgbClr val="C9B9F8"/>
                </a:solidFill>
                <a:latin typeface="Arial" pitchFamily="34" charset="0"/>
                <a:ea typeface="Arial" pitchFamily="34" charset="-122"/>
                <a:cs typeface="Arial" pitchFamily="34" charset="-120"/>
              </a:rPr>
              <a:t>↓</a:t>
            </a:r>
            <a:endParaRPr lang="en-US" sz="2700" dirty="0"/>
          </a:p>
        </p:txBody>
      </p:sp>
      <p:sp>
        <p:nvSpPr>
          <p:cNvPr id="34" name="Text 32"/>
          <p:cNvSpPr/>
          <p:nvPr/>
        </p:nvSpPr>
        <p:spPr>
          <a:xfrm>
            <a:off x="952500" y="7258050"/>
            <a:ext cx="1990725"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6F7FB">
                    <a:alpha val="50000"/>
                  </a:srgbClr>
                </a:solidFill>
                <a:latin typeface="Arial" pitchFamily="34" charset="0"/>
                <a:ea typeface="Arial" pitchFamily="34" charset="-122"/>
                <a:cs typeface="Arial" pitchFamily="34" charset="-120"/>
              </a:rPr>
              <a:t>KHI REO</a:t>
            </a:r>
            <a:endParaRPr lang="en-US" sz="1800" dirty="0"/>
          </a:p>
        </p:txBody>
      </p:sp>
      <p:sp>
        <p:nvSpPr>
          <p:cNvPr id="35" name="Shape 33"/>
          <p:cNvSpPr/>
          <p:nvPr/>
        </p:nvSpPr>
        <p:spPr>
          <a:xfrm>
            <a:off x="2952750" y="6862763"/>
            <a:ext cx="4337000" cy="1057275"/>
          </a:xfrm>
          <a:prstGeom prst="roundRect">
            <a:avLst>
              <a:gd name="adj" fmla="val 16216"/>
            </a:avLst>
          </a:prstGeom>
          <a:solidFill>
            <a:srgbClr val="C9B9F8">
              <a:alpha val="22000"/>
            </a:srgbClr>
          </a:solidFill>
          <a:ln w="9525">
            <a:solidFill>
              <a:srgbClr val="C9B9F8"/>
            </a:solidFill>
            <a:prstDash val="solid"/>
          </a:ln>
        </p:spPr>
      </p:sp>
      <p:sp>
        <p:nvSpPr>
          <p:cNvPr id="36" name="Text 34"/>
          <p:cNvSpPr/>
          <p:nvPr/>
        </p:nvSpPr>
        <p:spPr>
          <a:xfrm>
            <a:off x="2872107" y="7081838"/>
            <a:ext cx="4498285" cy="333375"/>
          </a:xfrm>
          <a:prstGeom prst="rect">
            <a:avLst/>
          </a:prstGeom>
          <a:noFill/>
          <a:ln/>
        </p:spPr>
        <p:txBody>
          <a:bodyPr wrap="square" lIns="25400" tIns="25400" rIns="25400" bIns="25400" rtlCol="0" anchor="t">
            <a:normAutofit/>
          </a:bodyPr>
          <a:lstStyle/>
          <a:p>
            <a:pPr algn="ctr" indent="0" marL="0">
              <a:buNone/>
            </a:pPr>
            <a:r>
              <a:rPr lang="en-US" sz="2025" b="1" dirty="0">
                <a:solidFill>
                  <a:srgbClr val="C9B9F8"/>
                </a:solidFill>
                <a:latin typeface="Arial" pitchFamily="34" charset="0"/>
                <a:ea typeface="Arial" pitchFamily="34" charset="-122"/>
                <a:cs typeface="Arial" pitchFamily="34" charset="-120"/>
              </a:rPr>
              <a:t>AlarmService</a:t>
            </a:r>
            <a:endParaRPr lang="en-US" sz="2025" dirty="0"/>
          </a:p>
        </p:txBody>
      </p:sp>
      <p:sp>
        <p:nvSpPr>
          <p:cNvPr id="37" name="Text 35"/>
          <p:cNvSpPr/>
          <p:nvPr/>
        </p:nvSpPr>
        <p:spPr>
          <a:xfrm>
            <a:off x="2872107" y="7415213"/>
            <a:ext cx="4498285" cy="323850"/>
          </a:xfrm>
          <a:prstGeom prst="rect">
            <a:avLst/>
          </a:prstGeom>
          <a:noFill/>
          <a:ln/>
        </p:spPr>
        <p:txBody>
          <a:bodyPr wrap="square" lIns="25400" tIns="25400" rIns="25400" bIns="25400" rtlCol="0" anchor="t">
            <a:normAutofit/>
          </a:bodyPr>
          <a:lstStyle/>
          <a:p>
            <a:pPr algn="ctr" indent="0" marL="0">
              <a:buNone/>
            </a:pPr>
            <a:r>
              <a:rPr lang="en-US" sz="1800" dirty="0">
                <a:solidFill>
                  <a:srgbClr val="F6F7FB">
                    <a:alpha val="55000"/>
                  </a:srgbClr>
                </a:solidFill>
                <a:latin typeface="Arial" pitchFamily="34" charset="0"/>
                <a:ea typeface="Arial" pitchFamily="34" charset="-122"/>
                <a:cs typeface="Arial" pitchFamily="34" charset="-120"/>
              </a:rPr>
              <a:t>Foreground · MediaPlayer + Vibrator</a:t>
            </a:r>
            <a:endParaRPr lang="en-US" sz="1800" dirty="0"/>
          </a:p>
        </p:txBody>
      </p:sp>
      <p:sp>
        <p:nvSpPr>
          <p:cNvPr id="38" name="Text 36"/>
          <p:cNvSpPr/>
          <p:nvPr/>
        </p:nvSpPr>
        <p:spPr>
          <a:xfrm>
            <a:off x="7480250" y="7200900"/>
            <a:ext cx="381000" cy="419100"/>
          </a:xfrm>
          <a:prstGeom prst="rect">
            <a:avLst/>
          </a:prstGeom>
          <a:noFill/>
          <a:ln/>
        </p:spPr>
        <p:txBody>
          <a:bodyPr wrap="square" lIns="25400" tIns="25400" rIns="25400" bIns="25400" rtlCol="0" anchor="t">
            <a:normAutofit/>
          </a:bodyPr>
          <a:lstStyle/>
          <a:p>
            <a:pPr algn="l" indent="0" marL="0">
              <a:buNone/>
            </a:pPr>
            <a:r>
              <a:rPr lang="en-US" sz="2400" dirty="0">
                <a:solidFill>
                  <a:srgbClr val="C9B9F8"/>
                </a:solidFill>
                <a:latin typeface="Arial" pitchFamily="34" charset="0"/>
                <a:ea typeface="Arial" pitchFamily="34" charset="-122"/>
                <a:cs typeface="Arial" pitchFamily="34" charset="-120"/>
              </a:rPr>
              <a:t>→</a:t>
            </a:r>
            <a:endParaRPr lang="en-US" sz="2400" dirty="0"/>
          </a:p>
        </p:txBody>
      </p:sp>
      <p:sp>
        <p:nvSpPr>
          <p:cNvPr id="39" name="Shape 37"/>
          <p:cNvSpPr/>
          <p:nvPr/>
        </p:nvSpPr>
        <p:spPr>
          <a:xfrm>
            <a:off x="7975550" y="6862763"/>
            <a:ext cx="4337149" cy="1057275"/>
          </a:xfrm>
          <a:prstGeom prst="roundRect">
            <a:avLst>
              <a:gd name="adj" fmla="val 16216"/>
            </a:avLst>
          </a:prstGeom>
          <a:solidFill>
            <a:srgbClr val="C9B9F8">
              <a:alpha val="10000"/>
            </a:srgbClr>
          </a:solidFill>
          <a:ln w="9525">
            <a:solidFill>
              <a:srgbClr val="C9B9F8">
                <a:alpha val="35000"/>
              </a:srgbClr>
            </a:solidFill>
            <a:prstDash val="solid"/>
          </a:ln>
        </p:spPr>
      </p:sp>
      <p:sp>
        <p:nvSpPr>
          <p:cNvPr id="40" name="Text 38"/>
          <p:cNvSpPr/>
          <p:nvPr/>
        </p:nvSpPr>
        <p:spPr>
          <a:xfrm>
            <a:off x="7894900" y="7081838"/>
            <a:ext cx="4498449" cy="333375"/>
          </a:xfrm>
          <a:prstGeom prst="rect">
            <a:avLst/>
          </a:prstGeom>
          <a:noFill/>
          <a:ln/>
        </p:spPr>
        <p:txBody>
          <a:bodyPr wrap="square" lIns="25400" tIns="25400" rIns="25400" bIns="25400" rtlCol="0" anchor="t">
            <a:normAutofit/>
          </a:bodyPr>
          <a:lstStyle/>
          <a:p>
            <a:pPr algn="ctr" indent="0" marL="0">
              <a:buNone/>
            </a:pPr>
            <a:r>
              <a:rPr lang="en-US" sz="2025" b="1" dirty="0">
                <a:solidFill>
                  <a:srgbClr val="F6F7FB"/>
                </a:solidFill>
                <a:latin typeface="Arial" pitchFamily="34" charset="0"/>
                <a:ea typeface="Arial" pitchFamily="34" charset="-122"/>
                <a:cs typeface="Arial" pitchFamily="34" charset="-120"/>
              </a:rPr>
              <a:t>AlarmActivity</a:t>
            </a:r>
            <a:endParaRPr lang="en-US" sz="2025" dirty="0"/>
          </a:p>
        </p:txBody>
      </p:sp>
      <p:sp>
        <p:nvSpPr>
          <p:cNvPr id="41" name="Text 39"/>
          <p:cNvSpPr/>
          <p:nvPr/>
        </p:nvSpPr>
        <p:spPr>
          <a:xfrm>
            <a:off x="7894900" y="7415213"/>
            <a:ext cx="4498449" cy="323850"/>
          </a:xfrm>
          <a:prstGeom prst="rect">
            <a:avLst/>
          </a:prstGeom>
          <a:noFill/>
          <a:ln/>
        </p:spPr>
        <p:txBody>
          <a:bodyPr wrap="square" lIns="25400" tIns="25400" rIns="25400" bIns="25400" rtlCol="0" anchor="t">
            <a:normAutofit/>
          </a:bodyPr>
          <a:lstStyle/>
          <a:p>
            <a:pPr algn="ctr" indent="0" marL="0">
              <a:buNone/>
            </a:pPr>
            <a:r>
              <a:rPr lang="en-US" sz="1800" dirty="0">
                <a:solidFill>
                  <a:srgbClr val="F6F7FB">
                    <a:alpha val="55000"/>
                  </a:srgbClr>
                </a:solidFill>
                <a:latin typeface="Arial" pitchFamily="34" charset="0"/>
                <a:ea typeface="Arial" pitchFamily="34" charset="-122"/>
                <a:cs typeface="Arial" pitchFamily="34" charset="-120"/>
              </a:rPr>
              <a:t>full-screen trên màn hình khóa</a:t>
            </a:r>
            <a:endParaRPr lang="en-US" sz="1800" dirty="0"/>
          </a:p>
        </p:txBody>
      </p:sp>
      <p:sp>
        <p:nvSpPr>
          <p:cNvPr id="42" name="Text 40"/>
          <p:cNvSpPr/>
          <p:nvPr/>
        </p:nvSpPr>
        <p:spPr>
          <a:xfrm>
            <a:off x="12503200" y="7200900"/>
            <a:ext cx="381000" cy="419100"/>
          </a:xfrm>
          <a:prstGeom prst="rect">
            <a:avLst/>
          </a:prstGeom>
          <a:noFill/>
          <a:ln/>
        </p:spPr>
        <p:txBody>
          <a:bodyPr wrap="square" lIns="25400" tIns="25400" rIns="25400" bIns="25400" rtlCol="0" anchor="t">
            <a:normAutofit/>
          </a:bodyPr>
          <a:lstStyle/>
          <a:p>
            <a:pPr algn="l" indent="0" marL="0">
              <a:buNone/>
            </a:pPr>
            <a:r>
              <a:rPr lang="en-US" sz="2400" dirty="0">
                <a:solidFill>
                  <a:srgbClr val="C9B9F8"/>
                </a:solidFill>
                <a:latin typeface="Arial" pitchFamily="34" charset="0"/>
                <a:ea typeface="Arial" pitchFamily="34" charset="-122"/>
                <a:cs typeface="Arial" pitchFamily="34" charset="-120"/>
              </a:rPr>
              <a:t>→</a:t>
            </a:r>
            <a:endParaRPr lang="en-US" sz="2400" dirty="0"/>
          </a:p>
        </p:txBody>
      </p:sp>
      <p:sp>
        <p:nvSpPr>
          <p:cNvPr id="43" name="Shape 41"/>
          <p:cNvSpPr/>
          <p:nvPr/>
        </p:nvSpPr>
        <p:spPr>
          <a:xfrm>
            <a:off x="12998500" y="6862763"/>
            <a:ext cx="4337000" cy="1057275"/>
          </a:xfrm>
          <a:prstGeom prst="roundRect">
            <a:avLst>
              <a:gd name="adj" fmla="val 16216"/>
            </a:avLst>
          </a:prstGeom>
          <a:solidFill>
            <a:srgbClr val="C85C42">
              <a:alpha val="18000"/>
            </a:srgbClr>
          </a:solidFill>
          <a:ln w="9525">
            <a:solidFill>
              <a:srgbClr val="C85C42"/>
            </a:solidFill>
            <a:prstDash val="solid"/>
          </a:ln>
        </p:spPr>
      </p:sp>
      <p:sp>
        <p:nvSpPr>
          <p:cNvPr id="44" name="Text 42"/>
          <p:cNvSpPr/>
          <p:nvPr/>
        </p:nvSpPr>
        <p:spPr>
          <a:xfrm>
            <a:off x="12917857" y="7081838"/>
            <a:ext cx="4498285" cy="333375"/>
          </a:xfrm>
          <a:prstGeom prst="rect">
            <a:avLst/>
          </a:prstGeom>
          <a:noFill/>
          <a:ln/>
        </p:spPr>
        <p:txBody>
          <a:bodyPr wrap="square" lIns="25400" tIns="25400" rIns="25400" bIns="25400" rtlCol="0" anchor="t">
            <a:normAutofit/>
          </a:bodyPr>
          <a:lstStyle/>
          <a:p>
            <a:pPr algn="ctr" indent="0" marL="0">
              <a:buNone/>
            </a:pPr>
            <a:r>
              <a:rPr lang="en-US" sz="2025" b="1" dirty="0">
                <a:solidFill>
                  <a:srgbClr val="F0A58E"/>
                </a:solidFill>
                <a:latin typeface="Arial" pitchFamily="34" charset="0"/>
                <a:ea typeface="Arial" pitchFamily="34" charset="-122"/>
                <a:cs typeface="Arial" pitchFamily="34" charset="-120"/>
              </a:rPr>
              <a:t>Dismiss / Snooze</a:t>
            </a:r>
            <a:endParaRPr lang="en-US" sz="2025" dirty="0"/>
          </a:p>
        </p:txBody>
      </p:sp>
      <p:sp>
        <p:nvSpPr>
          <p:cNvPr id="45" name="Text 43"/>
          <p:cNvSpPr/>
          <p:nvPr/>
        </p:nvSpPr>
        <p:spPr>
          <a:xfrm>
            <a:off x="12917857" y="7415213"/>
            <a:ext cx="4498285" cy="323850"/>
          </a:xfrm>
          <a:prstGeom prst="rect">
            <a:avLst/>
          </a:prstGeom>
          <a:noFill/>
          <a:ln/>
        </p:spPr>
        <p:txBody>
          <a:bodyPr wrap="square" lIns="25400" tIns="25400" rIns="25400" bIns="25400" rtlCol="0" anchor="t">
            <a:normAutofit/>
          </a:bodyPr>
          <a:lstStyle/>
          <a:p>
            <a:pPr algn="ctr" indent="0" marL="0">
              <a:buNone/>
            </a:pPr>
            <a:r>
              <a:rPr lang="en-US" sz="1800" dirty="0">
                <a:solidFill>
                  <a:srgbClr val="F6F7FB">
                    <a:alpha val="55000"/>
                  </a:srgbClr>
                </a:solidFill>
                <a:latin typeface="Arial" pitchFamily="34" charset="0"/>
                <a:ea typeface="Arial" pitchFamily="34" charset="-122"/>
                <a:cs typeface="Arial" pitchFamily="34" charset="-120"/>
              </a:rPr>
              <a:t>hoặc Math Challenge</a:t>
            </a:r>
            <a:endParaRPr lang="en-US" sz="1800" dirty="0"/>
          </a:p>
        </p:txBody>
      </p:sp>
      <p:sp>
        <p:nvSpPr>
          <p:cNvPr id="46" name="Text 44"/>
          <p:cNvSpPr/>
          <p:nvPr/>
        </p:nvSpPr>
        <p:spPr>
          <a:xfrm>
            <a:off x="952500" y="9210675"/>
            <a:ext cx="18021300" cy="352425"/>
          </a:xfrm>
          <a:prstGeom prst="rect">
            <a:avLst/>
          </a:prstGeom>
          <a:noFill/>
          <a:ln/>
        </p:spPr>
        <p:txBody>
          <a:bodyPr wrap="square" lIns="25400" tIns="25400" rIns="25400" bIns="25400" rtlCol="0" anchor="t">
            <a:normAutofit/>
          </a:bodyPr>
          <a:lstStyle/>
          <a:p>
            <a:pPr algn="l" indent="0" marL="0">
              <a:buNone/>
            </a:pPr>
            <a:r>
              <a:rPr lang="en-US" sz="1950" dirty="0">
                <a:solidFill>
                  <a:srgbClr val="F6F7FB">
                    <a:alpha val="60000"/>
                  </a:srgbClr>
                </a:solidFill>
                <a:latin typeface="Arial" pitchFamily="34" charset="0"/>
                <a:ea typeface="Arial" pitchFamily="34" charset="-122"/>
                <a:cs typeface="Arial" pitchFamily="34" charset="-120"/>
              </a:rPr>
              <a:t>Alarm lặp: sau khi reo, AlarmScheduler tự đăng ký lần kế tiếp với AlarmManager.</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10 · KIẾN TRÚC</a:t>
            </a:r>
            <a:endParaRPr lang="en-US" sz="1950" dirty="0"/>
          </a:p>
        </p:txBody>
      </p:sp>
      <p:sp>
        <p:nvSpPr>
          <p:cNvPr id="3" name="Text 1"/>
          <p:cNvSpPr/>
          <p:nvPr/>
        </p:nvSpPr>
        <p:spPr>
          <a:xfrm>
            <a:off x="952500" y="1266825"/>
            <a:ext cx="18021300"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Dữ liệu được lưu ngay trong máy</a:t>
            </a:r>
            <a:endParaRPr lang="en-US" sz="4500" dirty="0"/>
          </a:p>
        </p:txBody>
      </p:sp>
      <p:sp>
        <p:nvSpPr>
          <p:cNvPr id="4" name="Shape 2"/>
          <p:cNvSpPr/>
          <p:nvPr/>
        </p:nvSpPr>
        <p:spPr>
          <a:xfrm>
            <a:off x="952500" y="2352675"/>
            <a:ext cx="9646890" cy="7172325"/>
          </a:xfrm>
          <a:prstGeom prst="roundRect">
            <a:avLst>
              <a:gd name="adj" fmla="val 3453"/>
            </a:avLst>
          </a:prstGeom>
          <a:solidFill>
            <a:srgbClr val="08131F"/>
          </a:solidFill>
          <a:ln/>
        </p:spPr>
      </p:sp>
      <p:sp>
        <p:nvSpPr>
          <p:cNvPr id="5" name="Text 3"/>
          <p:cNvSpPr/>
          <p:nvPr/>
        </p:nvSpPr>
        <p:spPr>
          <a:xfrm>
            <a:off x="1371600" y="2714625"/>
            <a:ext cx="9689559" cy="361950"/>
          </a:xfrm>
          <a:prstGeom prst="rect">
            <a:avLst/>
          </a:prstGeom>
          <a:noFill/>
          <a:ln/>
        </p:spPr>
        <p:txBody>
          <a:bodyPr wrap="square" lIns="25400" tIns="25400" rIns="25400" bIns="25400" rtlCol="0" anchor="t">
            <a:normAutofit/>
          </a:bodyPr>
          <a:lstStyle/>
          <a:p>
            <a:pPr algn="l" indent="0" marL="0">
              <a:buNone/>
            </a:pPr>
            <a:r>
              <a:rPr lang="en-US" sz="2175" b="1" dirty="0">
                <a:solidFill>
                  <a:srgbClr val="C9B9F8"/>
                </a:solidFill>
                <a:latin typeface="Arial" pitchFamily="34" charset="0"/>
                <a:ea typeface="Arial" pitchFamily="34" charset="-122"/>
                <a:cs typeface="Arial" pitchFamily="34" charset="-120"/>
              </a:rPr>
              <a:t>Bảng </a:t>
            </a:r>
            <a:pPr algn="l" indent="0" marL="0">
              <a:buNone/>
            </a:pPr>
            <a:r>
              <a:rPr lang="en-US" sz="2175" b="1" dirty="0">
                <a:solidFill>
                  <a:srgbClr val="C9B9F8"/>
                </a:solidFill>
                <a:latin typeface="Courier New" pitchFamily="34" charset="0"/>
                <a:ea typeface="Courier New" pitchFamily="34" charset="-122"/>
                <a:cs typeface="Courier New" pitchFamily="34" charset="-120"/>
              </a:rPr>
              <a:t>alarms </a:t>
            </a:r>
            <a:pPr algn="l" indent="0" marL="0">
              <a:buNone/>
            </a:pPr>
            <a:r>
              <a:rPr lang="en-US" sz="2175" b="1" dirty="0">
                <a:solidFill>
                  <a:srgbClr val="C9B9F8"/>
                </a:solidFill>
                <a:latin typeface="Arial" pitchFamily="34" charset="0"/>
                <a:ea typeface="Arial" pitchFamily="34" charset="-122"/>
                <a:cs typeface="Arial" pitchFamily="34" charset="-120"/>
              </a:rPr>
              <a:t>· 13 cột</a:t>
            </a:r>
            <a:endParaRPr lang="en-US" sz="2175" dirty="0"/>
          </a:p>
        </p:txBody>
      </p:sp>
      <p:sp>
        <p:nvSpPr>
          <p:cNvPr id="6" name="Text 4"/>
          <p:cNvSpPr/>
          <p:nvPr/>
        </p:nvSpPr>
        <p:spPr>
          <a:xfrm>
            <a:off x="1371600" y="3248025"/>
            <a:ext cx="3090044"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6F7FB"/>
                </a:solidFill>
                <a:latin typeface="Courier New" pitchFamily="34" charset="0"/>
                <a:ea typeface="Courier New" pitchFamily="34" charset="-122"/>
                <a:cs typeface="Courier New" pitchFamily="34" charset="-120"/>
              </a:rPr>
              <a:t>_id</a:t>
            </a:r>
            <a:endParaRPr lang="en-US" sz="1875" dirty="0"/>
          </a:p>
        </p:txBody>
      </p:sp>
      <p:sp>
        <p:nvSpPr>
          <p:cNvPr id="7" name="Text 5"/>
          <p:cNvSpPr/>
          <p:nvPr/>
        </p:nvSpPr>
        <p:spPr>
          <a:xfrm>
            <a:off x="4371231" y="3248025"/>
            <a:ext cx="3090208"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6F7FB"/>
                </a:solidFill>
                <a:latin typeface="Courier New" pitchFamily="34" charset="0"/>
                <a:ea typeface="Courier New" pitchFamily="34" charset="-122"/>
                <a:cs typeface="Courier New" pitchFamily="34" charset="-120"/>
              </a:rPr>
              <a:t>hour</a:t>
            </a:r>
            <a:endParaRPr lang="en-US" sz="1875" dirty="0"/>
          </a:p>
        </p:txBody>
      </p:sp>
      <p:sp>
        <p:nvSpPr>
          <p:cNvPr id="8" name="Text 6"/>
          <p:cNvSpPr/>
          <p:nvPr/>
        </p:nvSpPr>
        <p:spPr>
          <a:xfrm>
            <a:off x="7371011" y="3248025"/>
            <a:ext cx="3090044"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6F7FB"/>
                </a:solidFill>
                <a:latin typeface="Courier New" pitchFamily="34" charset="0"/>
                <a:ea typeface="Courier New" pitchFamily="34" charset="-122"/>
                <a:cs typeface="Courier New" pitchFamily="34" charset="-120"/>
              </a:rPr>
              <a:t>minute</a:t>
            </a:r>
            <a:endParaRPr lang="en-US" sz="1875" dirty="0"/>
          </a:p>
        </p:txBody>
      </p:sp>
      <p:sp>
        <p:nvSpPr>
          <p:cNvPr id="9" name="Text 7"/>
          <p:cNvSpPr/>
          <p:nvPr/>
        </p:nvSpPr>
        <p:spPr>
          <a:xfrm>
            <a:off x="1371600" y="3719512"/>
            <a:ext cx="3090044"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6F7FB"/>
                </a:solidFill>
                <a:latin typeface="Courier New" pitchFamily="34" charset="0"/>
                <a:ea typeface="Courier New" pitchFamily="34" charset="-122"/>
                <a:cs typeface="Courier New" pitchFamily="34" charset="-120"/>
              </a:rPr>
              <a:t>label</a:t>
            </a:r>
            <a:endParaRPr lang="en-US" sz="1875" dirty="0"/>
          </a:p>
        </p:txBody>
      </p:sp>
      <p:sp>
        <p:nvSpPr>
          <p:cNvPr id="10" name="Text 8"/>
          <p:cNvSpPr/>
          <p:nvPr/>
        </p:nvSpPr>
        <p:spPr>
          <a:xfrm>
            <a:off x="4371231" y="3719512"/>
            <a:ext cx="3090208"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b="1" dirty="0">
                <a:solidFill>
                  <a:srgbClr val="C9B9F8"/>
                </a:solidFill>
                <a:latin typeface="Courier New" pitchFamily="34" charset="0"/>
                <a:ea typeface="Courier New" pitchFamily="34" charset="-122"/>
                <a:cs typeface="Courier New" pitchFamily="34" charset="-120"/>
              </a:rPr>
              <a:t>repeat_days</a:t>
            </a:r>
            <a:endParaRPr lang="en-US" sz="1875" dirty="0"/>
          </a:p>
        </p:txBody>
      </p:sp>
      <p:sp>
        <p:nvSpPr>
          <p:cNvPr id="11" name="Text 9"/>
          <p:cNvSpPr/>
          <p:nvPr/>
        </p:nvSpPr>
        <p:spPr>
          <a:xfrm>
            <a:off x="7371011" y="3719512"/>
            <a:ext cx="3090044"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6F7FB"/>
                </a:solidFill>
                <a:latin typeface="Courier New" pitchFamily="34" charset="0"/>
                <a:ea typeface="Courier New" pitchFamily="34" charset="-122"/>
                <a:cs typeface="Courier New" pitchFamily="34" charset="-120"/>
              </a:rPr>
              <a:t>enabled</a:t>
            </a:r>
            <a:endParaRPr lang="en-US" sz="1875" dirty="0"/>
          </a:p>
        </p:txBody>
      </p:sp>
      <p:sp>
        <p:nvSpPr>
          <p:cNvPr id="12" name="Text 10"/>
          <p:cNvSpPr/>
          <p:nvPr/>
        </p:nvSpPr>
        <p:spPr>
          <a:xfrm>
            <a:off x="1371600" y="4191000"/>
            <a:ext cx="3090044"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6F7FB"/>
                </a:solidFill>
                <a:latin typeface="Courier New" pitchFamily="34" charset="0"/>
                <a:ea typeface="Courier New" pitchFamily="34" charset="-122"/>
                <a:cs typeface="Courier New" pitchFamily="34" charset="-120"/>
              </a:rPr>
              <a:t>music_uri</a:t>
            </a:r>
            <a:endParaRPr lang="en-US" sz="1875" dirty="0"/>
          </a:p>
        </p:txBody>
      </p:sp>
      <p:sp>
        <p:nvSpPr>
          <p:cNvPr id="13" name="Text 11"/>
          <p:cNvSpPr/>
          <p:nvPr/>
        </p:nvSpPr>
        <p:spPr>
          <a:xfrm>
            <a:off x="4371231" y="4191000"/>
            <a:ext cx="3090208"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6F7FB"/>
                </a:solidFill>
                <a:latin typeface="Courier New" pitchFamily="34" charset="0"/>
                <a:ea typeface="Courier New" pitchFamily="34" charset="-122"/>
                <a:cs typeface="Courier New" pitchFamily="34" charset="-120"/>
              </a:rPr>
              <a:t>volume</a:t>
            </a:r>
            <a:endParaRPr lang="en-US" sz="1875" dirty="0"/>
          </a:p>
        </p:txBody>
      </p:sp>
      <p:sp>
        <p:nvSpPr>
          <p:cNvPr id="14" name="Text 12"/>
          <p:cNvSpPr/>
          <p:nvPr/>
        </p:nvSpPr>
        <p:spPr>
          <a:xfrm>
            <a:off x="7371011" y="4191000"/>
            <a:ext cx="3090044"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6F7FB"/>
                </a:solidFill>
                <a:latin typeface="Courier New" pitchFamily="34" charset="0"/>
                <a:ea typeface="Courier New" pitchFamily="34" charset="-122"/>
                <a:cs typeface="Courier New" pitchFamily="34" charset="-120"/>
              </a:rPr>
              <a:t>random_music</a:t>
            </a:r>
            <a:endParaRPr lang="en-US" sz="1875" dirty="0"/>
          </a:p>
        </p:txBody>
      </p:sp>
      <p:sp>
        <p:nvSpPr>
          <p:cNvPr id="15" name="Text 13"/>
          <p:cNvSpPr/>
          <p:nvPr/>
        </p:nvSpPr>
        <p:spPr>
          <a:xfrm>
            <a:off x="1371600" y="4662488"/>
            <a:ext cx="3090044"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6F7FB"/>
                </a:solidFill>
                <a:latin typeface="Courier New" pitchFamily="34" charset="0"/>
                <a:ea typeface="Courier New" pitchFamily="34" charset="-122"/>
                <a:cs typeface="Courier New" pitchFamily="34" charset="-120"/>
              </a:rPr>
              <a:t>loop_alarm</a:t>
            </a:r>
            <a:endParaRPr lang="en-US" sz="1875" dirty="0"/>
          </a:p>
        </p:txBody>
      </p:sp>
      <p:sp>
        <p:nvSpPr>
          <p:cNvPr id="16" name="Text 14"/>
          <p:cNvSpPr/>
          <p:nvPr/>
        </p:nvSpPr>
        <p:spPr>
          <a:xfrm>
            <a:off x="4371231" y="4662488"/>
            <a:ext cx="3090208"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6F7FB"/>
                </a:solidFill>
                <a:latin typeface="Courier New" pitchFamily="34" charset="0"/>
                <a:ea typeface="Courier New" pitchFamily="34" charset="-122"/>
                <a:cs typeface="Courier New" pitchFamily="34" charset="-120"/>
              </a:rPr>
              <a:t>vibrate</a:t>
            </a:r>
            <a:endParaRPr lang="en-US" sz="1875" dirty="0"/>
          </a:p>
        </p:txBody>
      </p:sp>
      <p:sp>
        <p:nvSpPr>
          <p:cNvPr id="17" name="Text 15"/>
          <p:cNvSpPr/>
          <p:nvPr/>
        </p:nvSpPr>
        <p:spPr>
          <a:xfrm>
            <a:off x="7371011" y="4662488"/>
            <a:ext cx="3090044"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6F7FB"/>
                </a:solidFill>
                <a:latin typeface="Courier New" pitchFamily="34" charset="0"/>
                <a:ea typeface="Courier New" pitchFamily="34" charset="-122"/>
                <a:cs typeface="Courier New" pitchFamily="34" charset="-120"/>
              </a:rPr>
              <a:t>music_id</a:t>
            </a:r>
            <a:endParaRPr lang="en-US" sz="1875" dirty="0"/>
          </a:p>
        </p:txBody>
      </p:sp>
      <p:sp>
        <p:nvSpPr>
          <p:cNvPr id="18" name="Text 16"/>
          <p:cNvSpPr/>
          <p:nvPr/>
        </p:nvSpPr>
        <p:spPr>
          <a:xfrm>
            <a:off x="1371600" y="5133975"/>
            <a:ext cx="3090044"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F0A58E"/>
                </a:solidFill>
                <a:latin typeface="Courier New" pitchFamily="34" charset="0"/>
                <a:ea typeface="Courier New" pitchFamily="34" charset="-122"/>
                <a:cs typeface="Courier New" pitchFamily="34" charset="-120"/>
              </a:rPr>
              <a:t>dismiss_mode</a:t>
            </a:r>
            <a:endParaRPr lang="en-US" sz="1875" dirty="0"/>
          </a:p>
        </p:txBody>
      </p:sp>
      <p:sp>
        <p:nvSpPr>
          <p:cNvPr id="19" name="Shape 17"/>
          <p:cNvSpPr/>
          <p:nvPr/>
        </p:nvSpPr>
        <p:spPr>
          <a:xfrm>
            <a:off x="1371600" y="5700713"/>
            <a:ext cx="8808690" cy="9525"/>
          </a:xfrm>
          <a:prstGeom prst="rect">
            <a:avLst/>
          </a:prstGeom>
          <a:solidFill>
            <a:srgbClr val="F6F7FB">
              <a:alpha val="15000"/>
            </a:srgbClr>
          </a:solidFill>
          <a:ln/>
        </p:spPr>
      </p:sp>
      <p:sp>
        <p:nvSpPr>
          <p:cNvPr id="20" name="Text 18"/>
          <p:cNvSpPr/>
          <p:nvPr/>
        </p:nvSpPr>
        <p:spPr>
          <a:xfrm>
            <a:off x="1371600" y="5900738"/>
            <a:ext cx="9072951"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b="1" dirty="0">
                <a:solidFill>
                  <a:srgbClr val="C9B9F8"/>
                </a:solidFill>
                <a:latin typeface="Courier New" pitchFamily="34" charset="0"/>
                <a:ea typeface="Courier New" pitchFamily="34" charset="-122"/>
                <a:cs typeface="Courier New" pitchFamily="34" charset="-120"/>
              </a:rPr>
              <a:t>repeat_days </a:t>
            </a:r>
            <a:pPr algn="l" indent="0" marL="0">
              <a:lnSpc>
                <a:spcPct val="129310"/>
              </a:lnSpc>
              <a:buNone/>
            </a:pPr>
            <a:r>
              <a:rPr lang="en-US" sz="1875" dirty="0">
                <a:solidFill>
                  <a:srgbClr val="F6F7FB">
                    <a:alpha val="80000"/>
                  </a:srgbClr>
                </a:solidFill>
                <a:latin typeface="Arial" pitchFamily="34" charset="0"/>
                <a:ea typeface="Arial" pitchFamily="34" charset="-122"/>
                <a:cs typeface="Arial" pitchFamily="34" charset="-120"/>
              </a:rPr>
              <a:t>— TEXT mã hóa </a:t>
            </a:r>
            <a:pPr algn="l" indent="0" marL="0">
              <a:lnSpc>
                <a:spcPct val="129310"/>
              </a:lnSpc>
              <a:buNone/>
            </a:pPr>
            <a:r>
              <a:rPr lang="en-US" sz="1875" dirty="0">
                <a:solidFill>
                  <a:srgbClr val="F6F7FB">
                    <a:alpha val="80000"/>
                  </a:srgbClr>
                </a:solidFill>
                <a:latin typeface="Courier New" pitchFamily="34" charset="0"/>
                <a:ea typeface="Courier New" pitchFamily="34" charset="-122"/>
                <a:cs typeface="Courier New" pitchFamily="34" charset="-120"/>
              </a:rPr>
              <a:t>"0"–"6" </a:t>
            </a:r>
            <a:pPr algn="l" indent="0" marL="0">
              <a:lnSpc>
                <a:spcPct val="129310"/>
              </a:lnSpc>
              <a:buNone/>
            </a:pPr>
            <a:r>
              <a:rPr lang="en-US" sz="1875" dirty="0">
                <a:solidFill>
                  <a:srgbClr val="F6F7FB">
                    <a:alpha val="80000"/>
                  </a:srgbClr>
                </a:solidFill>
                <a:latin typeface="Arial" pitchFamily="34" charset="0"/>
                <a:ea typeface="Arial" pitchFamily="34" charset="-122"/>
                <a:cs typeface="Arial" pitchFamily="34" charset="-120"/>
              </a:rPr>
              <a:t>= Thứ 2 → CN. Ví dụ </a:t>
            </a:r>
            <a:pPr algn="l" indent="0" marL="0">
              <a:lnSpc>
                <a:spcPct val="129310"/>
              </a:lnSpc>
              <a:buNone/>
            </a:pPr>
            <a:r>
              <a:rPr lang="en-US" sz="1875" dirty="0">
                <a:solidFill>
                  <a:srgbClr val="F6F7FB">
                    <a:alpha val="80000"/>
                  </a:srgbClr>
                </a:solidFill>
                <a:latin typeface="Courier New" pitchFamily="34" charset="0"/>
                <a:ea typeface="Courier New" pitchFamily="34" charset="-122"/>
                <a:cs typeface="Courier New" pitchFamily="34" charset="-120"/>
              </a:rPr>
              <a:t>"0,2,4" </a:t>
            </a:r>
            <a:pPr algn="l" indent="0" marL="0">
              <a:lnSpc>
                <a:spcPct val="129310"/>
              </a:lnSpc>
              <a:buNone/>
            </a:pPr>
            <a:r>
              <a:rPr lang="en-US" sz="1875" dirty="0">
                <a:solidFill>
                  <a:srgbClr val="F6F7FB">
                    <a:alpha val="80000"/>
                  </a:srgbClr>
                </a:solidFill>
                <a:latin typeface="Arial" pitchFamily="34" charset="0"/>
                <a:ea typeface="Arial" pitchFamily="34" charset="-122"/>
                <a:cs typeface="Arial" pitchFamily="34" charset="-120"/>
              </a:rPr>
              <a:t>= T2 · T4 · T6.</a:t>
            </a:r>
            <a:endParaRPr lang="en-US" sz="1875" dirty="0"/>
          </a:p>
        </p:txBody>
      </p:sp>
      <p:sp>
        <p:nvSpPr>
          <p:cNvPr id="21" name="Shape 19"/>
          <p:cNvSpPr/>
          <p:nvPr/>
        </p:nvSpPr>
        <p:spPr>
          <a:xfrm>
            <a:off x="10904190" y="3705225"/>
            <a:ext cx="104775" cy="104775"/>
          </a:xfrm>
          <a:prstGeom prst="ellipse">
            <a:avLst/>
          </a:prstGeom>
          <a:solidFill>
            <a:srgbClr val="257D70"/>
          </a:solidFill>
          <a:ln/>
        </p:spPr>
      </p:sp>
      <p:sp>
        <p:nvSpPr>
          <p:cNvPr id="22" name="Text 20"/>
          <p:cNvSpPr/>
          <p:nvPr/>
        </p:nvSpPr>
        <p:spPr>
          <a:xfrm>
            <a:off x="11199465" y="3581400"/>
            <a:ext cx="6320116" cy="1323975"/>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Mọi thiết lập đều được nhớ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nhạc, âm lượng, ngày lặp, kiểu tắt chuông của từng báo thức</a:t>
            </a:r>
            <a:endParaRPr lang="en-US" sz="2250" dirty="0"/>
          </a:p>
        </p:txBody>
      </p:sp>
      <p:sp>
        <p:nvSpPr>
          <p:cNvPr id="23" name="Shape 21"/>
          <p:cNvSpPr/>
          <p:nvPr/>
        </p:nvSpPr>
        <p:spPr>
          <a:xfrm>
            <a:off x="10904190" y="5276850"/>
            <a:ext cx="104775" cy="104775"/>
          </a:xfrm>
          <a:prstGeom prst="ellipse">
            <a:avLst/>
          </a:prstGeom>
          <a:solidFill>
            <a:srgbClr val="257D70"/>
          </a:solidFill>
          <a:ln/>
        </p:spPr>
      </p:sp>
      <p:sp>
        <p:nvSpPr>
          <p:cNvPr id="24" name="Text 22"/>
          <p:cNvSpPr/>
          <p:nvPr/>
        </p:nvSpPr>
        <p:spPr>
          <a:xfrm>
            <a:off x="11199465" y="5153025"/>
            <a:ext cx="6320116"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Tắt máy, mở lại vẫn còn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dữ liệu nằm trong máy, không cần internet hay tài khoản</a:t>
            </a:r>
            <a:endParaRPr lang="en-US" sz="2250" dirty="0"/>
          </a:p>
        </p:txBody>
      </p:sp>
      <p:sp>
        <p:nvSpPr>
          <p:cNvPr id="25" name="Shape 23"/>
          <p:cNvSpPr/>
          <p:nvPr/>
        </p:nvSpPr>
        <p:spPr>
          <a:xfrm>
            <a:off x="10904190" y="6419850"/>
            <a:ext cx="104775" cy="104775"/>
          </a:xfrm>
          <a:prstGeom prst="ellipse">
            <a:avLst/>
          </a:prstGeom>
          <a:solidFill>
            <a:srgbClr val="257D70"/>
          </a:solidFill>
          <a:ln/>
        </p:spPr>
      </p:sp>
      <p:sp>
        <p:nvSpPr>
          <p:cNvPr id="26" name="Text 24"/>
          <p:cNvSpPr/>
          <p:nvPr/>
        </p:nvSpPr>
        <p:spPr>
          <a:xfrm>
            <a:off x="11199465" y="6296025"/>
            <a:ext cx="6320116"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171A21"/>
                </a:solidFill>
                <a:latin typeface="Arial" pitchFamily="34" charset="0"/>
                <a:ea typeface="Arial" pitchFamily="34" charset="-122"/>
                <a:cs typeface="Arial" pitchFamily="34" charset="-120"/>
              </a:rPr>
              <a:t>5 timer gần nhất được lưu sẵn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 chạm một lần là hẹn giờ lại</a:t>
            </a:r>
            <a:endParaRPr lang="en-US" sz="2250" dirty="0"/>
          </a:p>
        </p:txBody>
      </p:sp>
      <p:sp>
        <p:nvSpPr>
          <p:cNvPr id="27" name="Shape 25"/>
          <p:cNvSpPr/>
          <p:nvPr/>
        </p:nvSpPr>
        <p:spPr>
          <a:xfrm>
            <a:off x="10904190" y="7562850"/>
            <a:ext cx="104775" cy="104775"/>
          </a:xfrm>
          <a:prstGeom prst="ellipse">
            <a:avLst/>
          </a:prstGeom>
          <a:solidFill>
            <a:srgbClr val="C85C42"/>
          </a:solidFill>
          <a:ln/>
        </p:spPr>
      </p:sp>
      <p:sp>
        <p:nvSpPr>
          <p:cNvPr id="28" name="Text 26"/>
          <p:cNvSpPr/>
          <p:nvPr/>
        </p:nvSpPr>
        <p:spPr>
          <a:xfrm>
            <a:off x="11199465" y="7439025"/>
            <a:ext cx="6320116"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b="1" dirty="0">
                <a:solidFill>
                  <a:srgbClr val="C85C42"/>
                </a:solidFill>
                <a:latin typeface="Arial" pitchFamily="34" charset="0"/>
                <a:ea typeface="Arial" pitchFamily="34" charset="-122"/>
                <a:cs typeface="Arial" pitchFamily="34" charset="-120"/>
              </a:rPr>
              <a:t>Nâng cấp qua 3 phiên bản </a:t>
            </a:r>
            <a:pPr algn="l" indent="0" marL="0">
              <a:lnSpc>
                <a:spcPct val="132353"/>
              </a:lnSpc>
              <a:buNone/>
            </a:pPr>
            <a:r>
              <a:rPr lang="en-US" sz="2250" dirty="0">
                <a:solidFill>
                  <a:srgbClr val="171A21"/>
                </a:solidFill>
                <a:latin typeface="Arial" pitchFamily="34" charset="0"/>
                <a:ea typeface="Arial" pitchFamily="34" charset="-122"/>
                <a:cs typeface="Arial" pitchFamily="34" charset="-120"/>
              </a:rPr>
              <a:t>mà không mất báo thức cũ của người dùng</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11 · TÍNH NĂNG</a:t>
            </a:r>
            <a:endParaRPr lang="en-US" sz="1950" dirty="0"/>
          </a:p>
        </p:txBody>
      </p:sp>
      <p:sp>
        <p:nvSpPr>
          <p:cNvPr id="3" name="Text 1"/>
          <p:cNvSpPr/>
          <p:nvPr/>
        </p:nvSpPr>
        <p:spPr>
          <a:xfrm>
            <a:off x="952500" y="1266825"/>
            <a:ext cx="18021300"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World Clock · Timer · Stopwatch</a:t>
            </a:r>
            <a:endParaRPr lang="en-US" sz="4500" dirty="0"/>
          </a:p>
        </p:txBody>
      </p:sp>
      <p:sp>
        <p:nvSpPr>
          <p:cNvPr id="4" name="Shape 2"/>
          <p:cNvSpPr/>
          <p:nvPr/>
        </p:nvSpPr>
        <p:spPr>
          <a:xfrm>
            <a:off x="952500" y="2962275"/>
            <a:ext cx="5054501" cy="9525"/>
          </a:xfrm>
          <a:prstGeom prst="rect">
            <a:avLst/>
          </a:prstGeom>
          <a:solidFill>
            <a:srgbClr val="DCE7E3"/>
          </a:solidFill>
          <a:ln/>
        </p:spPr>
      </p:sp>
      <p:sp>
        <p:nvSpPr>
          <p:cNvPr id="5" name="Text 3"/>
          <p:cNvSpPr/>
          <p:nvPr/>
        </p:nvSpPr>
        <p:spPr>
          <a:xfrm>
            <a:off x="952500" y="2390775"/>
            <a:ext cx="5206136"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257D70"/>
                </a:solidFill>
                <a:latin typeface="Arial" pitchFamily="34" charset="0"/>
                <a:ea typeface="Arial" pitchFamily="34" charset="-122"/>
                <a:cs typeface="Arial" pitchFamily="34" charset="-120"/>
              </a:rPr>
              <a:t>World Clock</a:t>
            </a:r>
            <a:endParaRPr lang="en-US" sz="2700" dirty="0"/>
          </a:p>
        </p:txBody>
      </p:sp>
      <p:sp>
        <p:nvSpPr>
          <p:cNvPr id="6" name="Shape 4"/>
          <p:cNvSpPr/>
          <p:nvPr/>
        </p:nvSpPr>
        <p:spPr>
          <a:xfrm>
            <a:off x="952500" y="3314700"/>
            <a:ext cx="85725" cy="85725"/>
          </a:xfrm>
          <a:prstGeom prst="ellipse">
            <a:avLst/>
          </a:prstGeom>
          <a:solidFill>
            <a:srgbClr val="257D70"/>
          </a:solidFill>
          <a:ln/>
        </p:spPr>
      </p:sp>
      <p:sp>
        <p:nvSpPr>
          <p:cNvPr id="7" name="Text 5"/>
          <p:cNvSpPr/>
          <p:nvPr/>
        </p:nvSpPr>
        <p:spPr>
          <a:xfrm>
            <a:off x="1190625" y="3200400"/>
            <a:ext cx="4960867" cy="1204913"/>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Đồng hồ </a:t>
            </a:r>
            <a:pPr algn="l" indent="0" marL="0">
              <a:lnSpc>
                <a:spcPct val="130645"/>
              </a:lnSpc>
              <a:buNone/>
            </a:pPr>
            <a:r>
              <a:rPr lang="en-US" sz="2025" b="1" dirty="0">
                <a:solidFill>
                  <a:srgbClr val="3C4450"/>
                </a:solidFill>
                <a:latin typeface="Arial" pitchFamily="34" charset="0"/>
                <a:ea typeface="Arial" pitchFamily="34" charset="-122"/>
                <a:cs typeface="Arial" pitchFamily="34" charset="-120"/>
              </a:rPr>
              <a:t>9 thành phố </a:t>
            </a:r>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 VN, Tokyo, Seoul, Singapore, London, Paris, New York, LA, Sydney</a:t>
            </a:r>
            <a:endParaRPr lang="en-US" sz="2025" dirty="0"/>
          </a:p>
        </p:txBody>
      </p:sp>
      <p:sp>
        <p:nvSpPr>
          <p:cNvPr id="8" name="Shape 6"/>
          <p:cNvSpPr/>
          <p:nvPr/>
        </p:nvSpPr>
        <p:spPr>
          <a:xfrm>
            <a:off x="952500" y="4710113"/>
            <a:ext cx="85725" cy="85725"/>
          </a:xfrm>
          <a:prstGeom prst="ellipse">
            <a:avLst/>
          </a:prstGeom>
          <a:solidFill>
            <a:srgbClr val="257D70"/>
          </a:solidFill>
          <a:ln/>
        </p:spPr>
      </p:sp>
      <p:sp>
        <p:nvSpPr>
          <p:cNvPr id="9" name="Text 7"/>
          <p:cNvSpPr/>
          <p:nvPr/>
        </p:nvSpPr>
        <p:spPr>
          <a:xfrm>
            <a:off x="1190625" y="4595813"/>
            <a:ext cx="2531626" cy="433388"/>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Cập nhật </a:t>
            </a:r>
            <a:pPr algn="l" indent="0" marL="0">
              <a:lnSpc>
                <a:spcPct val="130645"/>
              </a:lnSpc>
              <a:buNone/>
            </a:pPr>
            <a:r>
              <a:rPr lang="en-US" sz="2025" b="1" dirty="0">
                <a:solidFill>
                  <a:srgbClr val="3C4450"/>
                </a:solidFill>
                <a:latin typeface="Arial" pitchFamily="34" charset="0"/>
                <a:ea typeface="Arial" pitchFamily="34" charset="-122"/>
                <a:cs typeface="Arial" pitchFamily="34" charset="-120"/>
              </a:rPr>
              <a:t>từng giây</a:t>
            </a:r>
            <a:endParaRPr lang="en-US" sz="2025" dirty="0"/>
          </a:p>
        </p:txBody>
      </p:sp>
      <p:sp>
        <p:nvSpPr>
          <p:cNvPr id="10" name="Shape 8"/>
          <p:cNvSpPr/>
          <p:nvPr/>
        </p:nvSpPr>
        <p:spPr>
          <a:xfrm>
            <a:off x="952500" y="5334000"/>
            <a:ext cx="85725" cy="85725"/>
          </a:xfrm>
          <a:prstGeom prst="ellipse">
            <a:avLst/>
          </a:prstGeom>
          <a:solidFill>
            <a:srgbClr val="257D70"/>
          </a:solidFill>
          <a:ln/>
        </p:spPr>
      </p:sp>
      <p:sp>
        <p:nvSpPr>
          <p:cNvPr id="11" name="Text 9"/>
          <p:cNvSpPr/>
          <p:nvPr/>
        </p:nvSpPr>
        <p:spPr>
          <a:xfrm>
            <a:off x="1190625" y="5219700"/>
            <a:ext cx="4960867" cy="819150"/>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Dialog quản lý: hiển thị tối đa 5, </a:t>
            </a:r>
            <a:pPr algn="l" indent="0" marL="0">
              <a:lnSpc>
                <a:spcPct val="130645"/>
              </a:lnSpc>
              <a:buNone/>
            </a:pPr>
            <a:r>
              <a:rPr lang="en-US" sz="2025" b="1" dirty="0">
                <a:solidFill>
                  <a:srgbClr val="3C4450"/>
                </a:solidFill>
                <a:latin typeface="Arial" pitchFamily="34" charset="0"/>
                <a:ea typeface="Arial" pitchFamily="34" charset="-122"/>
                <a:cs typeface="Arial" pitchFamily="34" charset="-120"/>
              </a:rPr>
              <a:t>Vietnam luôn ghim</a:t>
            </a:r>
            <a:endParaRPr lang="en-US" sz="2025" dirty="0"/>
          </a:p>
        </p:txBody>
      </p:sp>
      <p:sp>
        <p:nvSpPr>
          <p:cNvPr id="12" name="Shape 10"/>
          <p:cNvSpPr/>
          <p:nvPr/>
        </p:nvSpPr>
        <p:spPr>
          <a:xfrm>
            <a:off x="952500" y="6343650"/>
            <a:ext cx="85725" cy="85725"/>
          </a:xfrm>
          <a:prstGeom prst="ellipse">
            <a:avLst/>
          </a:prstGeom>
          <a:solidFill>
            <a:srgbClr val="257D70"/>
          </a:solidFill>
          <a:ln/>
        </p:spPr>
      </p:sp>
      <p:sp>
        <p:nvSpPr>
          <p:cNvPr id="13" name="Text 11"/>
          <p:cNvSpPr/>
          <p:nvPr/>
        </p:nvSpPr>
        <p:spPr>
          <a:xfrm>
            <a:off x="1190625" y="6229350"/>
            <a:ext cx="4960867"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Danh sách thành phố bạn chọn được lưu lại cho lần sau</a:t>
            </a:r>
            <a:endParaRPr lang="en-US" sz="2025" dirty="0"/>
          </a:p>
        </p:txBody>
      </p:sp>
      <p:sp>
        <p:nvSpPr>
          <p:cNvPr id="14" name="Shape 12"/>
          <p:cNvSpPr/>
          <p:nvPr/>
        </p:nvSpPr>
        <p:spPr>
          <a:xfrm>
            <a:off x="6616601" y="2962275"/>
            <a:ext cx="5054650" cy="9525"/>
          </a:xfrm>
          <a:prstGeom prst="rect">
            <a:avLst/>
          </a:prstGeom>
          <a:solidFill>
            <a:srgbClr val="DCE7E3"/>
          </a:solidFill>
          <a:ln/>
        </p:spPr>
      </p:sp>
      <p:sp>
        <p:nvSpPr>
          <p:cNvPr id="15" name="Text 13"/>
          <p:cNvSpPr/>
          <p:nvPr/>
        </p:nvSpPr>
        <p:spPr>
          <a:xfrm>
            <a:off x="6616601" y="2390775"/>
            <a:ext cx="5206289"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257D70"/>
                </a:solidFill>
                <a:latin typeface="Arial" pitchFamily="34" charset="0"/>
                <a:ea typeface="Arial" pitchFamily="34" charset="-122"/>
                <a:cs typeface="Arial" pitchFamily="34" charset="-120"/>
              </a:rPr>
              <a:t>Timer</a:t>
            </a:r>
            <a:endParaRPr lang="en-US" sz="2700" dirty="0"/>
          </a:p>
        </p:txBody>
      </p:sp>
      <p:sp>
        <p:nvSpPr>
          <p:cNvPr id="16" name="Shape 14"/>
          <p:cNvSpPr/>
          <p:nvPr/>
        </p:nvSpPr>
        <p:spPr>
          <a:xfrm>
            <a:off x="6616601" y="3314700"/>
            <a:ext cx="85725" cy="85725"/>
          </a:xfrm>
          <a:prstGeom prst="ellipse">
            <a:avLst/>
          </a:prstGeom>
          <a:solidFill>
            <a:srgbClr val="257D70"/>
          </a:solidFill>
          <a:ln/>
        </p:spPr>
      </p:sp>
      <p:sp>
        <p:nvSpPr>
          <p:cNvPr id="17" name="Text 15"/>
          <p:cNvSpPr/>
          <p:nvPr/>
        </p:nvSpPr>
        <p:spPr>
          <a:xfrm>
            <a:off x="6854726" y="3200400"/>
            <a:ext cx="496102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Cuộn chọn giờ / phút / giây, đặt tên cho timer</a:t>
            </a:r>
            <a:endParaRPr lang="en-US" sz="2025" dirty="0"/>
          </a:p>
        </p:txBody>
      </p:sp>
      <p:sp>
        <p:nvSpPr>
          <p:cNvPr id="18" name="Shape 16"/>
          <p:cNvSpPr/>
          <p:nvPr/>
        </p:nvSpPr>
        <p:spPr>
          <a:xfrm>
            <a:off x="6616601" y="4314825"/>
            <a:ext cx="85725" cy="85725"/>
          </a:xfrm>
          <a:prstGeom prst="ellipse">
            <a:avLst/>
          </a:prstGeom>
          <a:solidFill>
            <a:srgbClr val="257D70"/>
          </a:solidFill>
          <a:ln/>
        </p:spPr>
      </p:sp>
      <p:sp>
        <p:nvSpPr>
          <p:cNvPr id="19" name="Text 17"/>
          <p:cNvSpPr/>
          <p:nvPr/>
        </p:nvSpPr>
        <p:spPr>
          <a:xfrm>
            <a:off x="6854726" y="4200525"/>
            <a:ext cx="4402678" cy="423863"/>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Start / Pause / Resume / Cancel</a:t>
            </a:r>
            <a:endParaRPr lang="en-US" sz="2025" dirty="0"/>
          </a:p>
        </p:txBody>
      </p:sp>
      <p:sp>
        <p:nvSpPr>
          <p:cNvPr id="20" name="Shape 18"/>
          <p:cNvSpPr/>
          <p:nvPr/>
        </p:nvSpPr>
        <p:spPr>
          <a:xfrm>
            <a:off x="6616601" y="4929188"/>
            <a:ext cx="85725" cy="85725"/>
          </a:xfrm>
          <a:prstGeom prst="ellipse">
            <a:avLst/>
          </a:prstGeom>
          <a:solidFill>
            <a:srgbClr val="257D70"/>
          </a:solidFill>
          <a:ln/>
        </p:spPr>
      </p:sp>
      <p:sp>
        <p:nvSpPr>
          <p:cNvPr id="21" name="Text 19"/>
          <p:cNvSpPr/>
          <p:nvPr/>
        </p:nvSpPr>
        <p:spPr>
          <a:xfrm>
            <a:off x="6854726" y="4814888"/>
            <a:ext cx="4961020" cy="819150"/>
          </a:xfrm>
          <a:prstGeom prst="rect">
            <a:avLst/>
          </a:prstGeom>
          <a:noFill/>
          <a:ln/>
        </p:spPr>
        <p:txBody>
          <a:bodyPr wrap="square" lIns="25400" tIns="25400" rIns="25400" bIns="25400" rtlCol="0" anchor="t">
            <a:normAutofit/>
          </a:bodyPr>
          <a:lstStyle/>
          <a:p>
            <a:pPr algn="l" indent="0" marL="0">
              <a:lnSpc>
                <a:spcPct val="130645"/>
              </a:lnSpc>
              <a:buNone/>
            </a:pPr>
            <a:r>
              <a:rPr lang="en-US" sz="2025" b="1" dirty="0">
                <a:solidFill>
                  <a:srgbClr val="3C4450"/>
                </a:solidFill>
                <a:latin typeface="Arial" pitchFamily="34" charset="0"/>
                <a:ea typeface="Arial" pitchFamily="34" charset="-122"/>
                <a:cs typeface="Arial" pitchFamily="34" charset="-120"/>
              </a:rPr>
              <a:t>5 timer gần nhất </a:t>
            </a:r>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được lưu — chạm để hẹn lại ngay</a:t>
            </a:r>
            <a:endParaRPr lang="en-US" sz="2025" dirty="0"/>
          </a:p>
        </p:txBody>
      </p:sp>
      <p:sp>
        <p:nvSpPr>
          <p:cNvPr id="22" name="Shape 20"/>
          <p:cNvSpPr/>
          <p:nvPr/>
        </p:nvSpPr>
        <p:spPr>
          <a:xfrm>
            <a:off x="6616601" y="5938838"/>
            <a:ext cx="85725" cy="85725"/>
          </a:xfrm>
          <a:prstGeom prst="ellipse">
            <a:avLst/>
          </a:prstGeom>
          <a:solidFill>
            <a:srgbClr val="257D70"/>
          </a:solidFill>
          <a:ln/>
        </p:spPr>
      </p:sp>
      <p:sp>
        <p:nvSpPr>
          <p:cNvPr id="23" name="Text 21"/>
          <p:cNvSpPr/>
          <p:nvPr/>
        </p:nvSpPr>
        <p:spPr>
          <a:xfrm>
            <a:off x="6854726" y="5824538"/>
            <a:ext cx="4961020" cy="819150"/>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Hết giờ </a:t>
            </a:r>
            <a:pPr algn="l" indent="0" marL="0">
              <a:lnSpc>
                <a:spcPct val="130645"/>
              </a:lnSpc>
              <a:buNone/>
            </a:pPr>
            <a:r>
              <a:rPr lang="en-US" sz="2025" b="1" dirty="0">
                <a:solidFill>
                  <a:srgbClr val="3C4450"/>
                </a:solidFill>
                <a:latin typeface="Arial" pitchFamily="34" charset="0"/>
                <a:ea typeface="Arial" pitchFamily="34" charset="-122"/>
                <a:cs typeface="Arial" pitchFamily="34" charset="-120"/>
              </a:rPr>
              <a:t>vẫn báo </a:t>
            </a:r>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dù đang dùng app khác, chuông reo đến khi bấm Stop</a:t>
            </a:r>
            <a:endParaRPr lang="en-US" sz="2025" dirty="0"/>
          </a:p>
        </p:txBody>
      </p:sp>
      <p:sp>
        <p:nvSpPr>
          <p:cNvPr id="24" name="Shape 22"/>
          <p:cNvSpPr/>
          <p:nvPr/>
        </p:nvSpPr>
        <p:spPr>
          <a:xfrm>
            <a:off x="12280850" y="2962275"/>
            <a:ext cx="5054650" cy="9525"/>
          </a:xfrm>
          <a:prstGeom prst="rect">
            <a:avLst/>
          </a:prstGeom>
          <a:solidFill>
            <a:srgbClr val="DCE7E3"/>
          </a:solidFill>
          <a:ln/>
        </p:spPr>
      </p:sp>
      <p:sp>
        <p:nvSpPr>
          <p:cNvPr id="25" name="Text 23"/>
          <p:cNvSpPr/>
          <p:nvPr/>
        </p:nvSpPr>
        <p:spPr>
          <a:xfrm>
            <a:off x="12280850" y="2390775"/>
            <a:ext cx="5206289"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257D70"/>
                </a:solidFill>
                <a:latin typeface="Arial" pitchFamily="34" charset="0"/>
                <a:ea typeface="Arial" pitchFamily="34" charset="-122"/>
                <a:cs typeface="Arial" pitchFamily="34" charset="-120"/>
              </a:rPr>
              <a:t>Stopwatch</a:t>
            </a:r>
            <a:endParaRPr lang="en-US" sz="2700" dirty="0"/>
          </a:p>
        </p:txBody>
      </p:sp>
      <p:sp>
        <p:nvSpPr>
          <p:cNvPr id="26" name="Shape 24"/>
          <p:cNvSpPr/>
          <p:nvPr/>
        </p:nvSpPr>
        <p:spPr>
          <a:xfrm>
            <a:off x="12280850" y="3314700"/>
            <a:ext cx="85725" cy="85725"/>
          </a:xfrm>
          <a:prstGeom prst="ellipse">
            <a:avLst/>
          </a:prstGeom>
          <a:solidFill>
            <a:srgbClr val="257D70"/>
          </a:solidFill>
          <a:ln/>
        </p:spPr>
      </p:sp>
      <p:sp>
        <p:nvSpPr>
          <p:cNvPr id="27" name="Text 25"/>
          <p:cNvSpPr/>
          <p:nvPr/>
        </p:nvSpPr>
        <p:spPr>
          <a:xfrm>
            <a:off x="12518975" y="3200400"/>
            <a:ext cx="3224778" cy="433388"/>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Chính xác đến </a:t>
            </a:r>
            <a:pPr algn="l" indent="0" marL="0">
              <a:lnSpc>
                <a:spcPct val="130645"/>
              </a:lnSpc>
              <a:buNone/>
            </a:pPr>
            <a:r>
              <a:rPr lang="en-US" sz="2025" b="1" dirty="0">
                <a:solidFill>
                  <a:srgbClr val="3C4450"/>
                </a:solidFill>
                <a:latin typeface="Arial" pitchFamily="34" charset="0"/>
                <a:ea typeface="Arial" pitchFamily="34" charset="-122"/>
                <a:cs typeface="Arial" pitchFamily="34" charset="-120"/>
              </a:rPr>
              <a:t>centi-giây</a:t>
            </a:r>
            <a:endParaRPr lang="en-US" sz="2025" dirty="0"/>
          </a:p>
        </p:txBody>
      </p:sp>
      <p:sp>
        <p:nvSpPr>
          <p:cNvPr id="28" name="Shape 26"/>
          <p:cNvSpPr/>
          <p:nvPr/>
        </p:nvSpPr>
        <p:spPr>
          <a:xfrm>
            <a:off x="12280850" y="3938588"/>
            <a:ext cx="85725" cy="85725"/>
          </a:xfrm>
          <a:prstGeom prst="ellipse">
            <a:avLst/>
          </a:prstGeom>
          <a:solidFill>
            <a:srgbClr val="257D70"/>
          </a:solidFill>
          <a:ln/>
        </p:spPr>
      </p:sp>
      <p:sp>
        <p:nvSpPr>
          <p:cNvPr id="29" name="Text 27"/>
          <p:cNvSpPr/>
          <p:nvPr/>
        </p:nvSpPr>
        <p:spPr>
          <a:xfrm>
            <a:off x="12518975" y="3824288"/>
            <a:ext cx="2715801" cy="433388"/>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Định dạng </a:t>
            </a:r>
            <a:pPr algn="l" indent="0" marL="0">
              <a:lnSpc>
                <a:spcPct val="130645"/>
              </a:lnSpc>
              <a:buNone/>
            </a:pPr>
            <a:r>
              <a:rPr lang="en-US" sz="2025" b="1" dirty="0">
                <a:solidFill>
                  <a:srgbClr val="3C4450"/>
                </a:solidFill>
                <a:latin typeface="Courier New" pitchFamily="34" charset="0"/>
                <a:ea typeface="Courier New" pitchFamily="34" charset="-122"/>
                <a:cs typeface="Courier New" pitchFamily="34" charset="-120"/>
              </a:rPr>
              <a:t>mm:ss.cc</a:t>
            </a:r>
            <a:endParaRPr lang="en-US" sz="2025" dirty="0"/>
          </a:p>
        </p:txBody>
      </p:sp>
      <p:sp>
        <p:nvSpPr>
          <p:cNvPr id="30" name="Shape 28"/>
          <p:cNvSpPr/>
          <p:nvPr/>
        </p:nvSpPr>
        <p:spPr>
          <a:xfrm>
            <a:off x="12280850" y="4562475"/>
            <a:ext cx="85725" cy="85725"/>
          </a:xfrm>
          <a:prstGeom prst="ellipse">
            <a:avLst/>
          </a:prstGeom>
          <a:solidFill>
            <a:srgbClr val="257D70"/>
          </a:solidFill>
          <a:ln/>
        </p:spPr>
      </p:sp>
      <p:sp>
        <p:nvSpPr>
          <p:cNvPr id="31" name="Text 29"/>
          <p:cNvSpPr/>
          <p:nvPr/>
        </p:nvSpPr>
        <p:spPr>
          <a:xfrm>
            <a:off x="12518975" y="4448175"/>
            <a:ext cx="2854955" cy="423863"/>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3C4450"/>
                </a:solidFill>
                <a:latin typeface="Arial" pitchFamily="34" charset="0"/>
                <a:ea typeface="Arial" pitchFamily="34" charset="-122"/>
                <a:cs typeface="Arial" pitchFamily="34" charset="-120"/>
              </a:rPr>
              <a:t>Start / Pause / Reset</a:t>
            </a:r>
            <a:endParaRPr lang="en-US" sz="2025" dirty="0"/>
          </a:p>
        </p:txBody>
      </p:sp>
      <p:sp>
        <p:nvSpPr>
          <p:cNvPr id="32" name="Shape 30"/>
          <p:cNvSpPr/>
          <p:nvPr/>
        </p:nvSpPr>
        <p:spPr>
          <a:xfrm>
            <a:off x="12280850" y="8448675"/>
            <a:ext cx="5054650" cy="1076325"/>
          </a:xfrm>
          <a:prstGeom prst="roundRect">
            <a:avLst>
              <a:gd name="adj" fmla="val 17699"/>
            </a:avLst>
          </a:prstGeom>
          <a:solidFill>
            <a:srgbClr val="F1FAF7"/>
          </a:solidFill>
          <a:ln/>
        </p:spPr>
      </p:sp>
      <p:sp>
        <p:nvSpPr>
          <p:cNvPr id="33" name="Text 31"/>
          <p:cNvSpPr/>
          <p:nvPr/>
        </p:nvSpPr>
        <p:spPr>
          <a:xfrm>
            <a:off x="12452681" y="8696325"/>
            <a:ext cx="4710989" cy="619125"/>
          </a:xfrm>
          <a:prstGeom prst="rect">
            <a:avLst/>
          </a:prstGeom>
          <a:noFill/>
          <a:ln/>
        </p:spPr>
        <p:txBody>
          <a:bodyPr wrap="square" lIns="25400" tIns="25400" rIns="25400" bIns="25400" rtlCol="0" anchor="t">
            <a:normAutofit/>
          </a:bodyPr>
          <a:lstStyle/>
          <a:p>
            <a:pPr algn="ctr" indent="0" marL="0">
              <a:buNone/>
            </a:pPr>
            <a:r>
              <a:rPr lang="en-US" sz="3900" b="1" dirty="0">
                <a:solidFill>
                  <a:srgbClr val="257D70"/>
                </a:solidFill>
                <a:latin typeface="Courier New" pitchFamily="34" charset="0"/>
                <a:ea typeface="Courier New" pitchFamily="34" charset="-122"/>
                <a:cs typeface="Courier New" pitchFamily="34" charset="-120"/>
              </a:rPr>
              <a:t>04:23.87</a:t>
            </a:r>
            <a:endParaRPr lang="en-US" sz="3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12 · THIẾT KẾ</a:t>
            </a:r>
            <a:endParaRPr lang="en-US" sz="1950" dirty="0"/>
          </a:p>
        </p:txBody>
      </p:sp>
      <p:sp>
        <p:nvSpPr>
          <p:cNvPr id="3" name="Text 1"/>
          <p:cNvSpPr/>
          <p:nvPr/>
        </p:nvSpPr>
        <p:spPr>
          <a:xfrm>
            <a:off x="952500" y="1266825"/>
            <a:ext cx="18021300"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UI/UX &amp; Dark Mode theo hệ thống</a:t>
            </a:r>
            <a:endParaRPr lang="en-US" sz="4500" dirty="0"/>
          </a:p>
        </p:txBody>
      </p:sp>
      <p:sp>
        <p:nvSpPr>
          <p:cNvPr id="4" name="Shape 2"/>
          <p:cNvSpPr/>
          <p:nvPr/>
        </p:nvSpPr>
        <p:spPr>
          <a:xfrm>
            <a:off x="952500" y="2352675"/>
            <a:ext cx="8039100" cy="5846564"/>
          </a:xfrm>
          <a:prstGeom prst="roundRect">
            <a:avLst>
              <a:gd name="adj" fmla="val 4562"/>
            </a:avLst>
          </a:prstGeom>
          <a:solidFill>
            <a:srgbClr val="FFFFFF"/>
          </a:solidFill>
          <a:ln w="9525">
            <a:solidFill>
              <a:srgbClr val="DCE7E3"/>
            </a:solidFill>
            <a:prstDash val="solid"/>
          </a:ln>
        </p:spPr>
      </p:sp>
      <p:sp>
        <p:nvSpPr>
          <p:cNvPr id="5" name="Text 3"/>
          <p:cNvSpPr/>
          <p:nvPr/>
        </p:nvSpPr>
        <p:spPr>
          <a:xfrm>
            <a:off x="1381125" y="2743200"/>
            <a:ext cx="7900035"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171A21"/>
                </a:solidFill>
                <a:latin typeface="Arial" pitchFamily="34" charset="0"/>
                <a:ea typeface="Arial" pitchFamily="34" charset="-122"/>
                <a:cs typeface="Arial" pitchFamily="34" charset="-120"/>
              </a:rPr>
              <a:t>Light mode</a:t>
            </a:r>
            <a:endParaRPr lang="en-US" sz="2400" dirty="0"/>
          </a:p>
        </p:txBody>
      </p:sp>
      <p:sp>
        <p:nvSpPr>
          <p:cNvPr id="6" name="Shape 4"/>
          <p:cNvSpPr/>
          <p:nvPr/>
        </p:nvSpPr>
        <p:spPr>
          <a:xfrm>
            <a:off x="1381125" y="3343275"/>
            <a:ext cx="971550" cy="704850"/>
          </a:xfrm>
          <a:prstGeom prst="roundRect">
            <a:avLst>
              <a:gd name="adj" fmla="val 21622"/>
            </a:avLst>
          </a:prstGeom>
          <a:solidFill>
            <a:srgbClr val="FFFFFF"/>
          </a:solidFill>
          <a:ln w="9525">
            <a:solidFill>
              <a:srgbClr val="DCE7E3"/>
            </a:solidFill>
            <a:prstDash val="solid"/>
          </a:ln>
        </p:spPr>
      </p:sp>
      <p:sp>
        <p:nvSpPr>
          <p:cNvPr id="7" name="Text 5"/>
          <p:cNvSpPr/>
          <p:nvPr/>
        </p:nvSpPr>
        <p:spPr>
          <a:xfrm>
            <a:off x="1426964" y="4124325"/>
            <a:ext cx="95607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A6472"/>
                </a:solidFill>
                <a:latin typeface="Courier New" pitchFamily="34" charset="0"/>
                <a:ea typeface="Courier New" pitchFamily="34" charset="-122"/>
                <a:cs typeface="Courier New" pitchFamily="34" charset="-120"/>
              </a:rPr>
              <a:t>#FFFFFF</a:t>
            </a:r>
            <a:endParaRPr lang="en-US" sz="1800" dirty="0"/>
          </a:p>
        </p:txBody>
      </p:sp>
      <p:sp>
        <p:nvSpPr>
          <p:cNvPr id="8" name="Shape 6"/>
          <p:cNvSpPr/>
          <p:nvPr/>
        </p:nvSpPr>
        <p:spPr>
          <a:xfrm>
            <a:off x="2524125" y="3343275"/>
            <a:ext cx="952500" cy="685800"/>
          </a:xfrm>
          <a:prstGeom prst="roundRect">
            <a:avLst>
              <a:gd name="adj" fmla="val 22222"/>
            </a:avLst>
          </a:prstGeom>
          <a:solidFill>
            <a:srgbClr val="171A21"/>
          </a:solidFill>
          <a:ln/>
        </p:spPr>
      </p:sp>
      <p:sp>
        <p:nvSpPr>
          <p:cNvPr id="9" name="Text 7"/>
          <p:cNvSpPr/>
          <p:nvPr/>
        </p:nvSpPr>
        <p:spPr>
          <a:xfrm>
            <a:off x="2560439" y="4105275"/>
            <a:ext cx="95607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A6472"/>
                </a:solidFill>
                <a:latin typeface="Courier New" pitchFamily="34" charset="0"/>
                <a:ea typeface="Courier New" pitchFamily="34" charset="-122"/>
                <a:cs typeface="Courier New" pitchFamily="34" charset="-120"/>
              </a:rPr>
              <a:t>#171A21</a:t>
            </a:r>
            <a:endParaRPr lang="en-US" sz="1800" dirty="0"/>
          </a:p>
        </p:txBody>
      </p:sp>
      <p:sp>
        <p:nvSpPr>
          <p:cNvPr id="10" name="Shape 8"/>
          <p:cNvSpPr/>
          <p:nvPr/>
        </p:nvSpPr>
        <p:spPr>
          <a:xfrm>
            <a:off x="3648075" y="3343275"/>
            <a:ext cx="952500" cy="685800"/>
          </a:xfrm>
          <a:prstGeom prst="roundRect">
            <a:avLst>
              <a:gd name="adj" fmla="val 22222"/>
            </a:avLst>
          </a:prstGeom>
          <a:solidFill>
            <a:srgbClr val="257D70"/>
          </a:solidFill>
          <a:ln/>
        </p:spPr>
      </p:sp>
      <p:sp>
        <p:nvSpPr>
          <p:cNvPr id="11" name="Text 9"/>
          <p:cNvSpPr/>
          <p:nvPr/>
        </p:nvSpPr>
        <p:spPr>
          <a:xfrm>
            <a:off x="3684389" y="4105275"/>
            <a:ext cx="95607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A6472"/>
                </a:solidFill>
                <a:latin typeface="Courier New" pitchFamily="34" charset="0"/>
                <a:ea typeface="Courier New" pitchFamily="34" charset="-122"/>
                <a:cs typeface="Courier New" pitchFamily="34" charset="-120"/>
              </a:rPr>
              <a:t>#257D70</a:t>
            </a:r>
            <a:endParaRPr lang="en-US" sz="1800" dirty="0"/>
          </a:p>
        </p:txBody>
      </p:sp>
      <p:sp>
        <p:nvSpPr>
          <p:cNvPr id="12" name="Shape 10"/>
          <p:cNvSpPr/>
          <p:nvPr/>
        </p:nvSpPr>
        <p:spPr>
          <a:xfrm>
            <a:off x="4772025" y="3343275"/>
            <a:ext cx="971550" cy="704850"/>
          </a:xfrm>
          <a:prstGeom prst="roundRect">
            <a:avLst>
              <a:gd name="adj" fmla="val 21622"/>
            </a:avLst>
          </a:prstGeom>
          <a:solidFill>
            <a:srgbClr val="F1FAF7"/>
          </a:solidFill>
          <a:ln w="9525">
            <a:solidFill>
              <a:srgbClr val="DCE7E3"/>
            </a:solidFill>
            <a:prstDash val="solid"/>
          </a:ln>
        </p:spPr>
      </p:sp>
      <p:sp>
        <p:nvSpPr>
          <p:cNvPr id="13" name="Text 11"/>
          <p:cNvSpPr/>
          <p:nvPr/>
        </p:nvSpPr>
        <p:spPr>
          <a:xfrm>
            <a:off x="4817864" y="4124325"/>
            <a:ext cx="95607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A6472"/>
                </a:solidFill>
                <a:latin typeface="Courier New" pitchFamily="34" charset="0"/>
                <a:ea typeface="Courier New" pitchFamily="34" charset="-122"/>
                <a:cs typeface="Courier New" pitchFamily="34" charset="-120"/>
              </a:rPr>
              <a:t>#F1FAF7</a:t>
            </a:r>
            <a:endParaRPr lang="en-US" sz="1800" dirty="0"/>
          </a:p>
        </p:txBody>
      </p:sp>
      <p:sp>
        <p:nvSpPr>
          <p:cNvPr id="14" name="Text 12"/>
          <p:cNvSpPr/>
          <p:nvPr/>
        </p:nvSpPr>
        <p:spPr>
          <a:xfrm>
            <a:off x="1381125" y="4638675"/>
            <a:ext cx="7900035" cy="41910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3C4450"/>
                </a:solidFill>
                <a:latin typeface="Arial" pitchFamily="34" charset="0"/>
                <a:ea typeface="Arial" pitchFamily="34" charset="-122"/>
                <a:cs typeface="Arial" pitchFamily="34" charset="-120"/>
              </a:rPr>
              <a:t>Nền trắng, chữ than đậm, </a:t>
            </a:r>
            <a:pPr algn="l" indent="0" marL="0">
              <a:lnSpc>
                <a:spcPct val="125806"/>
              </a:lnSpc>
              <a:buNone/>
            </a:pPr>
            <a:r>
              <a:rPr lang="en-US" sz="1950" b="1" dirty="0">
                <a:solidFill>
                  <a:srgbClr val="257D70"/>
                </a:solidFill>
                <a:latin typeface="Arial" pitchFamily="34" charset="0"/>
                <a:ea typeface="Arial" pitchFamily="34" charset="-122"/>
                <a:cs typeface="Arial" pitchFamily="34" charset="-120"/>
              </a:rPr>
              <a:t>accent teal</a:t>
            </a:r>
            <a:pPr algn="l" indent="0" marL="0">
              <a:lnSpc>
                <a:spcPct val="125806"/>
              </a:lnSpc>
              <a:buNone/>
            </a:pPr>
            <a:r>
              <a:rPr lang="en-US" sz="1950" dirty="0">
                <a:solidFill>
                  <a:srgbClr val="3C4450"/>
                </a:solidFill>
                <a:latin typeface="Arial" pitchFamily="34" charset="0"/>
                <a:ea typeface="Arial" pitchFamily="34" charset="-122"/>
                <a:cs typeface="Arial" pitchFamily="34" charset="-120"/>
              </a:rPr>
              <a:t>, bottom nav mint nhạt.</a:t>
            </a:r>
            <a:endParaRPr lang="en-US" sz="1950" dirty="0"/>
          </a:p>
        </p:txBody>
      </p:sp>
      <p:sp>
        <p:nvSpPr>
          <p:cNvPr id="15" name="Shape 13"/>
          <p:cNvSpPr/>
          <p:nvPr/>
        </p:nvSpPr>
        <p:spPr>
          <a:xfrm>
            <a:off x="9296400" y="2352675"/>
            <a:ext cx="8039100" cy="5846564"/>
          </a:xfrm>
          <a:prstGeom prst="roundRect">
            <a:avLst>
              <a:gd name="adj" fmla="val 4562"/>
            </a:avLst>
          </a:prstGeom>
          <a:solidFill>
            <a:srgbClr val="08131F"/>
          </a:solidFill>
          <a:ln/>
        </p:spPr>
      </p:sp>
      <p:sp>
        <p:nvSpPr>
          <p:cNvPr id="16" name="Text 14"/>
          <p:cNvSpPr/>
          <p:nvPr/>
        </p:nvSpPr>
        <p:spPr>
          <a:xfrm>
            <a:off x="9715500" y="2733675"/>
            <a:ext cx="792099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F6F7FB"/>
                </a:solidFill>
                <a:latin typeface="Arial" pitchFamily="34" charset="0"/>
                <a:ea typeface="Arial" pitchFamily="34" charset="-122"/>
                <a:cs typeface="Arial" pitchFamily="34" charset="-120"/>
              </a:rPr>
              <a:t>Dark mode</a:t>
            </a:r>
            <a:endParaRPr lang="en-US" sz="2400" dirty="0"/>
          </a:p>
        </p:txBody>
      </p:sp>
      <p:sp>
        <p:nvSpPr>
          <p:cNvPr id="17" name="Shape 15"/>
          <p:cNvSpPr/>
          <p:nvPr/>
        </p:nvSpPr>
        <p:spPr>
          <a:xfrm>
            <a:off x="9715500" y="3333750"/>
            <a:ext cx="971550" cy="704850"/>
          </a:xfrm>
          <a:prstGeom prst="roundRect">
            <a:avLst>
              <a:gd name="adj" fmla="val 21622"/>
            </a:avLst>
          </a:prstGeom>
          <a:solidFill>
            <a:srgbClr val="08131F"/>
          </a:solidFill>
          <a:ln w="9525">
            <a:solidFill>
              <a:srgbClr val="F6F7FB">
                <a:alpha val="25000"/>
              </a:srgbClr>
            </a:solidFill>
            <a:prstDash val="solid"/>
          </a:ln>
        </p:spPr>
      </p:sp>
      <p:sp>
        <p:nvSpPr>
          <p:cNvPr id="18" name="Text 16"/>
          <p:cNvSpPr/>
          <p:nvPr/>
        </p:nvSpPr>
        <p:spPr>
          <a:xfrm>
            <a:off x="9761339" y="4114800"/>
            <a:ext cx="95607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6F7FB">
                    <a:alpha val="60000"/>
                  </a:srgbClr>
                </a:solidFill>
                <a:latin typeface="Courier New" pitchFamily="34" charset="0"/>
                <a:ea typeface="Courier New" pitchFamily="34" charset="-122"/>
                <a:cs typeface="Courier New" pitchFamily="34" charset="-120"/>
              </a:rPr>
              <a:t>#08131F</a:t>
            </a:r>
            <a:endParaRPr lang="en-US" sz="1800" dirty="0"/>
          </a:p>
        </p:txBody>
      </p:sp>
      <p:sp>
        <p:nvSpPr>
          <p:cNvPr id="19" name="Shape 17"/>
          <p:cNvSpPr/>
          <p:nvPr/>
        </p:nvSpPr>
        <p:spPr>
          <a:xfrm>
            <a:off x="10858500" y="3333750"/>
            <a:ext cx="952500" cy="685800"/>
          </a:xfrm>
          <a:prstGeom prst="roundRect">
            <a:avLst>
              <a:gd name="adj" fmla="val 22222"/>
            </a:avLst>
          </a:prstGeom>
          <a:solidFill>
            <a:srgbClr val="F6F7FB"/>
          </a:solidFill>
          <a:ln/>
        </p:spPr>
      </p:sp>
      <p:sp>
        <p:nvSpPr>
          <p:cNvPr id="20" name="Text 18"/>
          <p:cNvSpPr/>
          <p:nvPr/>
        </p:nvSpPr>
        <p:spPr>
          <a:xfrm>
            <a:off x="10894814" y="4095750"/>
            <a:ext cx="95607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6F7FB">
                    <a:alpha val="60000"/>
                  </a:srgbClr>
                </a:solidFill>
                <a:latin typeface="Courier New" pitchFamily="34" charset="0"/>
                <a:ea typeface="Courier New" pitchFamily="34" charset="-122"/>
                <a:cs typeface="Courier New" pitchFamily="34" charset="-120"/>
              </a:rPr>
              <a:t>#F6F7FB</a:t>
            </a:r>
            <a:endParaRPr lang="en-US" sz="1800" dirty="0"/>
          </a:p>
        </p:txBody>
      </p:sp>
      <p:sp>
        <p:nvSpPr>
          <p:cNvPr id="21" name="Shape 19"/>
          <p:cNvSpPr/>
          <p:nvPr/>
        </p:nvSpPr>
        <p:spPr>
          <a:xfrm>
            <a:off x="11982450" y="3333750"/>
            <a:ext cx="952500" cy="685800"/>
          </a:xfrm>
          <a:prstGeom prst="roundRect">
            <a:avLst>
              <a:gd name="adj" fmla="val 22222"/>
            </a:avLst>
          </a:prstGeom>
          <a:solidFill>
            <a:srgbClr val="C9B9F8"/>
          </a:solidFill>
          <a:ln/>
        </p:spPr>
      </p:sp>
      <p:sp>
        <p:nvSpPr>
          <p:cNvPr id="22" name="Text 20"/>
          <p:cNvSpPr/>
          <p:nvPr/>
        </p:nvSpPr>
        <p:spPr>
          <a:xfrm>
            <a:off x="12018764" y="4095750"/>
            <a:ext cx="95607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6F7FB">
                    <a:alpha val="60000"/>
                  </a:srgbClr>
                </a:solidFill>
                <a:latin typeface="Courier New" pitchFamily="34" charset="0"/>
                <a:ea typeface="Courier New" pitchFamily="34" charset="-122"/>
                <a:cs typeface="Courier New" pitchFamily="34" charset="-120"/>
              </a:rPr>
              <a:t>#C9B9F8</a:t>
            </a:r>
            <a:endParaRPr lang="en-US" sz="1800" dirty="0"/>
          </a:p>
        </p:txBody>
      </p:sp>
      <p:sp>
        <p:nvSpPr>
          <p:cNvPr id="23" name="Text 21"/>
          <p:cNvSpPr/>
          <p:nvPr/>
        </p:nvSpPr>
        <p:spPr>
          <a:xfrm>
            <a:off x="9715500" y="4629150"/>
            <a:ext cx="7416927" cy="79057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F6F7FB">
                    <a:alpha val="80000"/>
                  </a:srgbClr>
                </a:solidFill>
                <a:latin typeface="Arial" pitchFamily="34" charset="0"/>
                <a:ea typeface="Arial" pitchFamily="34" charset="-122"/>
                <a:cs typeface="Arial" pitchFamily="34" charset="-120"/>
              </a:rPr>
              <a:t>Nền navy đậm, chữ sáng, </a:t>
            </a:r>
            <a:pPr algn="l" indent="0" marL="0">
              <a:lnSpc>
                <a:spcPct val="125806"/>
              </a:lnSpc>
              <a:buNone/>
            </a:pPr>
            <a:r>
              <a:rPr lang="en-US" sz="1950" b="1" dirty="0">
                <a:solidFill>
                  <a:srgbClr val="C9B9F8"/>
                </a:solidFill>
                <a:latin typeface="Arial" pitchFamily="34" charset="0"/>
                <a:ea typeface="Arial" pitchFamily="34" charset="-122"/>
                <a:cs typeface="Arial" pitchFamily="34" charset="-120"/>
              </a:rPr>
              <a:t>accent lavender </a:t>
            </a:r>
            <a:pPr algn="l" indent="0" marL="0">
              <a:lnSpc>
                <a:spcPct val="125806"/>
              </a:lnSpc>
              <a:buNone/>
            </a:pPr>
            <a:r>
              <a:rPr lang="en-US" sz="1950" dirty="0">
                <a:solidFill>
                  <a:srgbClr val="F6F7FB">
                    <a:alpha val="80000"/>
                  </a:srgbClr>
                </a:solidFill>
                <a:latin typeface="Arial" pitchFamily="34" charset="0"/>
                <a:ea typeface="Arial" pitchFamily="34" charset="-122"/>
                <a:cs typeface="Arial" pitchFamily="34" charset="-120"/>
              </a:rPr>
              <a:t>— tự đổi theo hệ thống.</a:t>
            </a:r>
            <a:endParaRPr lang="en-US" sz="1950" dirty="0"/>
          </a:p>
        </p:txBody>
      </p:sp>
      <p:sp>
        <p:nvSpPr>
          <p:cNvPr id="24" name="Shape 22"/>
          <p:cNvSpPr/>
          <p:nvPr/>
        </p:nvSpPr>
        <p:spPr>
          <a:xfrm>
            <a:off x="952500" y="8656439"/>
            <a:ext cx="95250" cy="95250"/>
          </a:xfrm>
          <a:prstGeom prst="ellipse">
            <a:avLst/>
          </a:prstGeom>
          <a:solidFill>
            <a:srgbClr val="257D70"/>
          </a:solidFill>
          <a:ln/>
        </p:spPr>
      </p:sp>
      <p:sp>
        <p:nvSpPr>
          <p:cNvPr id="25" name="Text 23"/>
          <p:cNvSpPr/>
          <p:nvPr/>
        </p:nvSpPr>
        <p:spPr>
          <a:xfrm>
            <a:off x="1219200" y="8542139"/>
            <a:ext cx="3979813" cy="43428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3C4450"/>
                </a:solidFill>
                <a:latin typeface="Arial" pitchFamily="34" charset="0"/>
                <a:ea typeface="Arial" pitchFamily="34" charset="-122"/>
                <a:cs typeface="Arial" pitchFamily="34" charset="-120"/>
              </a:rPr>
              <a:t>Phong cách </a:t>
            </a:r>
            <a:pPr algn="l" indent="0" marL="0">
              <a:lnSpc>
                <a:spcPct val="126875"/>
              </a:lnSpc>
              <a:buNone/>
            </a:pPr>
            <a:r>
              <a:rPr lang="en-US" sz="2100" b="1" dirty="0">
                <a:solidFill>
                  <a:srgbClr val="3C4450"/>
                </a:solidFill>
                <a:latin typeface="Arial" pitchFamily="34" charset="0"/>
                <a:ea typeface="Arial" pitchFamily="34" charset="-122"/>
                <a:cs typeface="Arial" pitchFamily="34" charset="-120"/>
              </a:rPr>
              <a:t>One UI / Material</a:t>
            </a:r>
            <a:endParaRPr lang="en-US" sz="2100" dirty="0"/>
          </a:p>
        </p:txBody>
      </p:sp>
      <p:sp>
        <p:nvSpPr>
          <p:cNvPr id="26" name="Shape 24"/>
          <p:cNvSpPr/>
          <p:nvPr/>
        </p:nvSpPr>
        <p:spPr>
          <a:xfrm>
            <a:off x="9525000" y="8656439"/>
            <a:ext cx="95250" cy="95250"/>
          </a:xfrm>
          <a:prstGeom prst="ellipse">
            <a:avLst/>
          </a:prstGeom>
          <a:solidFill>
            <a:srgbClr val="257D70"/>
          </a:solidFill>
          <a:ln/>
        </p:spPr>
      </p:sp>
      <p:sp>
        <p:nvSpPr>
          <p:cNvPr id="27" name="Text 25"/>
          <p:cNvSpPr/>
          <p:nvPr/>
        </p:nvSpPr>
        <p:spPr>
          <a:xfrm>
            <a:off x="9791700" y="8542139"/>
            <a:ext cx="5197331" cy="434280"/>
          </a:xfrm>
          <a:prstGeom prst="rect">
            <a:avLst/>
          </a:prstGeom>
          <a:noFill/>
          <a:ln/>
        </p:spPr>
        <p:txBody>
          <a:bodyPr wrap="square" lIns="25400" tIns="25400" rIns="25400" bIns="25400" rtlCol="0" anchor="t">
            <a:normAutofit/>
          </a:bodyPr>
          <a:lstStyle/>
          <a:p>
            <a:pPr algn="l" indent="0" marL="0">
              <a:lnSpc>
                <a:spcPct val="126875"/>
              </a:lnSpc>
              <a:buNone/>
            </a:pPr>
            <a:r>
              <a:rPr lang="en-US" sz="2100" b="1" dirty="0">
                <a:solidFill>
                  <a:srgbClr val="3C4450"/>
                </a:solidFill>
                <a:latin typeface="Arial" pitchFamily="34" charset="0"/>
                <a:ea typeface="Arial" pitchFamily="34" charset="-122"/>
                <a:cs typeface="Arial" pitchFamily="34" charset="-120"/>
              </a:rPr>
              <a:t>Custom NumberPicker </a:t>
            </a:r>
            <a:pPr algn="l" indent="0" marL="0">
              <a:lnSpc>
                <a:spcPct val="126875"/>
              </a:lnSpc>
              <a:buNone/>
            </a:pPr>
            <a:r>
              <a:rPr lang="en-US" sz="2100" dirty="0">
                <a:solidFill>
                  <a:srgbClr val="3C4450"/>
                </a:solidFill>
                <a:latin typeface="Arial" pitchFamily="34" charset="0"/>
                <a:ea typeface="Arial" pitchFamily="34" charset="-122"/>
                <a:cs typeface="Arial" pitchFamily="34" charset="-120"/>
              </a:rPr>
              <a:t>chọn giờ / phút</a:t>
            </a:r>
            <a:endParaRPr lang="en-US" sz="2100" dirty="0"/>
          </a:p>
        </p:txBody>
      </p:sp>
      <p:sp>
        <p:nvSpPr>
          <p:cNvPr id="28" name="Shape 26"/>
          <p:cNvSpPr/>
          <p:nvPr/>
        </p:nvSpPr>
        <p:spPr>
          <a:xfrm>
            <a:off x="952500" y="9243120"/>
            <a:ext cx="95250" cy="95250"/>
          </a:xfrm>
          <a:prstGeom prst="ellipse">
            <a:avLst/>
          </a:prstGeom>
          <a:solidFill>
            <a:srgbClr val="257D70"/>
          </a:solidFill>
          <a:ln/>
        </p:spPr>
      </p:sp>
      <p:sp>
        <p:nvSpPr>
          <p:cNvPr id="29" name="Text 27"/>
          <p:cNvSpPr/>
          <p:nvPr/>
        </p:nvSpPr>
        <p:spPr>
          <a:xfrm>
            <a:off x="1219200" y="9128820"/>
            <a:ext cx="5109418" cy="43428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3C4450"/>
                </a:solidFill>
                <a:latin typeface="Arial" pitchFamily="34" charset="0"/>
                <a:ea typeface="Arial" pitchFamily="34" charset="-122"/>
                <a:cs typeface="Arial" pitchFamily="34" charset="-120"/>
              </a:rPr>
              <a:t>Layout </a:t>
            </a:r>
            <a:pPr algn="l" indent="0" marL="0">
              <a:lnSpc>
                <a:spcPct val="126875"/>
              </a:lnSpc>
              <a:buNone/>
            </a:pPr>
            <a:r>
              <a:rPr lang="en-US" sz="2100" b="1" dirty="0">
                <a:solidFill>
                  <a:srgbClr val="3C4450"/>
                </a:solidFill>
                <a:latin typeface="Arial" pitchFamily="34" charset="0"/>
                <a:ea typeface="Arial" pitchFamily="34" charset="-122"/>
                <a:cs typeface="Arial" pitchFamily="34" charset="-120"/>
              </a:rPr>
              <a:t>card bo góc</a:t>
            </a:r>
            <a:pPr algn="l" indent="0" marL="0">
              <a:lnSpc>
                <a:spcPct val="126875"/>
              </a:lnSpc>
              <a:buNone/>
            </a:pPr>
            <a:r>
              <a:rPr lang="en-US" sz="2100" dirty="0">
                <a:solidFill>
                  <a:srgbClr val="3C4450"/>
                </a:solidFill>
                <a:latin typeface="Arial" pitchFamily="34" charset="0"/>
                <a:ea typeface="Arial" pitchFamily="34" charset="-122"/>
                <a:cs typeface="Arial" pitchFamily="34" charset="-120"/>
              </a:rPr>
              <a:t>, khoảng thở rộng</a:t>
            </a:r>
            <a:endParaRPr lang="en-US" sz="2100" dirty="0"/>
          </a:p>
        </p:txBody>
      </p:sp>
      <p:sp>
        <p:nvSpPr>
          <p:cNvPr id="30" name="Shape 28"/>
          <p:cNvSpPr/>
          <p:nvPr/>
        </p:nvSpPr>
        <p:spPr>
          <a:xfrm>
            <a:off x="9525000" y="9243120"/>
            <a:ext cx="95250" cy="95250"/>
          </a:xfrm>
          <a:prstGeom prst="ellipse">
            <a:avLst/>
          </a:prstGeom>
          <a:solidFill>
            <a:srgbClr val="257D70"/>
          </a:solidFill>
          <a:ln/>
        </p:spPr>
      </p:sp>
      <p:sp>
        <p:nvSpPr>
          <p:cNvPr id="31" name="Text 29"/>
          <p:cNvSpPr/>
          <p:nvPr/>
        </p:nvSpPr>
        <p:spPr>
          <a:xfrm>
            <a:off x="9791700" y="9128820"/>
            <a:ext cx="3354110" cy="434280"/>
          </a:xfrm>
          <a:prstGeom prst="rect">
            <a:avLst/>
          </a:prstGeom>
          <a:noFill/>
          <a:ln/>
        </p:spPr>
        <p:txBody>
          <a:bodyPr wrap="square" lIns="25400" tIns="25400" rIns="25400" bIns="25400" rtlCol="0" anchor="t">
            <a:normAutofit/>
          </a:bodyPr>
          <a:lstStyle/>
          <a:p>
            <a:pPr algn="l" indent="0" marL="0">
              <a:lnSpc>
                <a:spcPct val="126875"/>
              </a:lnSpc>
              <a:buNone/>
            </a:pPr>
            <a:r>
              <a:rPr lang="en-US" sz="2100" b="1" dirty="0">
                <a:solidFill>
                  <a:srgbClr val="3C4450"/>
                </a:solidFill>
                <a:latin typeface="Arial" pitchFamily="34" charset="0"/>
                <a:ea typeface="Arial" pitchFamily="34" charset="-122"/>
                <a:cs typeface="Arial" pitchFamily="34" charset="-120"/>
              </a:rPr>
              <a:t>Bottom nav floating </a:t>
            </a:r>
            <a:pPr algn="l" indent="0" marL="0">
              <a:lnSpc>
                <a:spcPct val="126875"/>
              </a:lnSpc>
              <a:buNone/>
            </a:pPr>
            <a:r>
              <a:rPr lang="en-US" sz="2100" dirty="0">
                <a:solidFill>
                  <a:srgbClr val="3C4450"/>
                </a:solidFill>
                <a:latin typeface="Arial" pitchFamily="34" charset="0"/>
                <a:ea typeface="Arial" pitchFamily="34" charset="-122"/>
                <a:cs typeface="Arial" pitchFamily="34" charset="-120"/>
              </a:rPr>
              <a:t>4 tab</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13 · QUÁ TRÌNH</a:t>
            </a:r>
            <a:endParaRPr lang="en-US" sz="1950" dirty="0"/>
          </a:p>
        </p:txBody>
      </p:sp>
      <p:sp>
        <p:nvSpPr>
          <p:cNvPr id="3" name="Text 1"/>
          <p:cNvSpPr/>
          <p:nvPr/>
        </p:nvSpPr>
        <p:spPr>
          <a:xfrm>
            <a:off x="952500" y="1266825"/>
            <a:ext cx="18021300"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Phân công &amp; Timeline 8 ngày</a:t>
            </a:r>
            <a:endParaRPr lang="en-US" sz="4500" dirty="0"/>
          </a:p>
        </p:txBody>
      </p:sp>
      <p:sp>
        <p:nvSpPr>
          <p:cNvPr id="4" name="Shape 2"/>
          <p:cNvSpPr/>
          <p:nvPr/>
        </p:nvSpPr>
        <p:spPr>
          <a:xfrm>
            <a:off x="952500" y="2543175"/>
            <a:ext cx="104775" cy="104775"/>
          </a:xfrm>
          <a:prstGeom prst="ellipse">
            <a:avLst/>
          </a:prstGeom>
          <a:solidFill>
            <a:srgbClr val="257D70"/>
          </a:solidFill>
          <a:ln/>
        </p:spPr>
      </p:sp>
      <p:sp>
        <p:nvSpPr>
          <p:cNvPr id="5" name="Text 3"/>
          <p:cNvSpPr/>
          <p:nvPr/>
        </p:nvSpPr>
        <p:spPr>
          <a:xfrm>
            <a:off x="1285875" y="2400300"/>
            <a:ext cx="3981450" cy="352425"/>
          </a:xfrm>
          <a:prstGeom prst="rect">
            <a:avLst/>
          </a:prstGeom>
          <a:noFill/>
          <a:ln/>
        </p:spPr>
        <p:txBody>
          <a:bodyPr wrap="none" lIns="25400" tIns="25400" rIns="25400" bIns="25400" rtlCol="0" anchor="t">
            <a:normAutofit/>
          </a:bodyPr>
          <a:lstStyle/>
          <a:p>
            <a:pPr algn="l" indent="0" marL="0">
              <a:buNone/>
            </a:pPr>
            <a:r>
              <a:rPr lang="en-US" sz="2175" b="1" dirty="0">
                <a:solidFill>
                  <a:srgbClr val="171A21"/>
                </a:solidFill>
                <a:latin typeface="Arial" pitchFamily="34" charset="0"/>
                <a:ea typeface="Arial" pitchFamily="34" charset="-122"/>
                <a:cs typeface="Arial" pitchFamily="34" charset="-120"/>
              </a:rPr>
              <a:t>Thành viên 1 · Họ tên</a:t>
            </a:r>
            <a:endParaRPr lang="en-US" sz="2175" dirty="0"/>
          </a:p>
        </p:txBody>
      </p:sp>
      <p:sp>
        <p:nvSpPr>
          <p:cNvPr id="6" name="Text 4"/>
          <p:cNvSpPr/>
          <p:nvPr/>
        </p:nvSpPr>
        <p:spPr>
          <a:xfrm>
            <a:off x="5133975" y="2352675"/>
            <a:ext cx="8876080" cy="438596"/>
          </a:xfrm>
          <a:prstGeom prst="rect">
            <a:avLst/>
          </a:prstGeom>
          <a:noFill/>
          <a:ln/>
        </p:spPr>
        <p:txBody>
          <a:bodyPr wrap="square" lIns="25400" tIns="25400" rIns="25400" bIns="25400" rtlCol="0" anchor="t">
            <a:normAutofit/>
          </a:bodyPr>
          <a:lstStyle/>
          <a:p>
            <a:pPr algn="l" indent="0" marL="0">
              <a:lnSpc>
                <a:spcPct val="127424"/>
              </a:lnSpc>
              <a:buNone/>
            </a:pPr>
            <a:r>
              <a:rPr lang="en-US" sz="2175" dirty="0">
                <a:solidFill>
                  <a:srgbClr val="3C4450"/>
                </a:solidFill>
                <a:latin typeface="Arial" pitchFamily="34" charset="0"/>
                <a:ea typeface="Arial" pitchFamily="34" charset="-122"/>
                <a:cs typeface="Arial" pitchFamily="34" charset="-120"/>
              </a:rPr>
              <a:t>Alarm core + scheduling — AlarmManager, Receiver, Service</a:t>
            </a:r>
            <a:endParaRPr lang="en-US" sz="2175" dirty="0"/>
          </a:p>
        </p:txBody>
      </p:sp>
      <p:sp>
        <p:nvSpPr>
          <p:cNvPr id="7" name="Shape 5"/>
          <p:cNvSpPr/>
          <p:nvPr/>
        </p:nvSpPr>
        <p:spPr>
          <a:xfrm>
            <a:off x="952500" y="3210371"/>
            <a:ext cx="104775" cy="104775"/>
          </a:xfrm>
          <a:prstGeom prst="ellipse">
            <a:avLst/>
          </a:prstGeom>
          <a:solidFill>
            <a:srgbClr val="257D70"/>
          </a:solidFill>
          <a:ln/>
        </p:spPr>
      </p:sp>
      <p:sp>
        <p:nvSpPr>
          <p:cNvPr id="8" name="Text 6"/>
          <p:cNvSpPr/>
          <p:nvPr/>
        </p:nvSpPr>
        <p:spPr>
          <a:xfrm>
            <a:off x="1285875" y="3067496"/>
            <a:ext cx="3981450" cy="352425"/>
          </a:xfrm>
          <a:prstGeom prst="rect">
            <a:avLst/>
          </a:prstGeom>
          <a:noFill/>
          <a:ln/>
        </p:spPr>
        <p:txBody>
          <a:bodyPr wrap="none" lIns="25400" tIns="25400" rIns="25400" bIns="25400" rtlCol="0" anchor="t">
            <a:normAutofit/>
          </a:bodyPr>
          <a:lstStyle/>
          <a:p>
            <a:pPr algn="l" indent="0" marL="0">
              <a:buNone/>
            </a:pPr>
            <a:r>
              <a:rPr lang="en-US" sz="2175" b="1" dirty="0">
                <a:solidFill>
                  <a:srgbClr val="171A21"/>
                </a:solidFill>
                <a:latin typeface="Arial" pitchFamily="34" charset="0"/>
                <a:ea typeface="Arial" pitchFamily="34" charset="-122"/>
                <a:cs typeface="Arial" pitchFamily="34" charset="-120"/>
              </a:rPr>
              <a:t>Thành viên 2 · Họ tên</a:t>
            </a:r>
            <a:endParaRPr lang="en-US" sz="2175" dirty="0"/>
          </a:p>
        </p:txBody>
      </p:sp>
      <p:sp>
        <p:nvSpPr>
          <p:cNvPr id="9" name="Text 7"/>
          <p:cNvSpPr/>
          <p:nvPr/>
        </p:nvSpPr>
        <p:spPr>
          <a:xfrm>
            <a:off x="5133975" y="3019871"/>
            <a:ext cx="8412778" cy="438596"/>
          </a:xfrm>
          <a:prstGeom prst="rect">
            <a:avLst/>
          </a:prstGeom>
          <a:noFill/>
          <a:ln/>
        </p:spPr>
        <p:txBody>
          <a:bodyPr wrap="square" lIns="25400" tIns="25400" rIns="25400" bIns="25400" rtlCol="0" anchor="t">
            <a:normAutofit/>
          </a:bodyPr>
          <a:lstStyle/>
          <a:p>
            <a:pPr algn="l" indent="0" marL="0">
              <a:lnSpc>
                <a:spcPct val="127424"/>
              </a:lnSpc>
              <a:buNone/>
            </a:pPr>
            <a:r>
              <a:rPr lang="en-US" sz="2175" dirty="0">
                <a:solidFill>
                  <a:srgbClr val="3C4450"/>
                </a:solidFill>
                <a:latin typeface="Arial" pitchFamily="34" charset="0"/>
                <a:ea typeface="Arial" pitchFamily="34" charset="-122"/>
                <a:cs typeface="Arial" pitchFamily="34" charset="-120"/>
              </a:rPr>
              <a:t>Database + Music — SQLite, migration, MediaPlayer, SAF</a:t>
            </a:r>
            <a:endParaRPr lang="en-US" sz="2175" dirty="0"/>
          </a:p>
        </p:txBody>
      </p:sp>
      <p:sp>
        <p:nvSpPr>
          <p:cNvPr id="10" name="Shape 8"/>
          <p:cNvSpPr/>
          <p:nvPr/>
        </p:nvSpPr>
        <p:spPr>
          <a:xfrm>
            <a:off x="952500" y="3877568"/>
            <a:ext cx="104775" cy="104775"/>
          </a:xfrm>
          <a:prstGeom prst="ellipse">
            <a:avLst/>
          </a:prstGeom>
          <a:solidFill>
            <a:srgbClr val="257D70"/>
          </a:solidFill>
          <a:ln/>
        </p:spPr>
      </p:sp>
      <p:sp>
        <p:nvSpPr>
          <p:cNvPr id="11" name="Text 9"/>
          <p:cNvSpPr/>
          <p:nvPr/>
        </p:nvSpPr>
        <p:spPr>
          <a:xfrm>
            <a:off x="1285875" y="3734693"/>
            <a:ext cx="3981450" cy="352425"/>
          </a:xfrm>
          <a:prstGeom prst="rect">
            <a:avLst/>
          </a:prstGeom>
          <a:noFill/>
          <a:ln/>
        </p:spPr>
        <p:txBody>
          <a:bodyPr wrap="none" lIns="25400" tIns="25400" rIns="25400" bIns="25400" rtlCol="0" anchor="t">
            <a:normAutofit/>
          </a:bodyPr>
          <a:lstStyle/>
          <a:p>
            <a:pPr algn="l" indent="0" marL="0">
              <a:buNone/>
            </a:pPr>
            <a:r>
              <a:rPr lang="en-US" sz="2175" b="1" dirty="0">
                <a:solidFill>
                  <a:srgbClr val="171A21"/>
                </a:solidFill>
                <a:latin typeface="Arial" pitchFamily="34" charset="0"/>
                <a:ea typeface="Arial" pitchFamily="34" charset="-122"/>
                <a:cs typeface="Arial" pitchFamily="34" charset="-120"/>
              </a:rPr>
              <a:t>Thành viên 3 · Họ tên</a:t>
            </a:r>
            <a:endParaRPr lang="en-US" sz="2175" dirty="0"/>
          </a:p>
        </p:txBody>
      </p:sp>
      <p:sp>
        <p:nvSpPr>
          <p:cNvPr id="12" name="Text 10"/>
          <p:cNvSpPr/>
          <p:nvPr/>
        </p:nvSpPr>
        <p:spPr>
          <a:xfrm>
            <a:off x="5133975" y="3687068"/>
            <a:ext cx="5510019" cy="438596"/>
          </a:xfrm>
          <a:prstGeom prst="rect">
            <a:avLst/>
          </a:prstGeom>
          <a:noFill/>
          <a:ln/>
        </p:spPr>
        <p:txBody>
          <a:bodyPr wrap="square" lIns="25400" tIns="25400" rIns="25400" bIns="25400" rtlCol="0" anchor="t">
            <a:normAutofit/>
          </a:bodyPr>
          <a:lstStyle/>
          <a:p>
            <a:pPr algn="l" indent="0" marL="0">
              <a:lnSpc>
                <a:spcPct val="127424"/>
              </a:lnSpc>
              <a:buNone/>
            </a:pPr>
            <a:r>
              <a:rPr lang="en-US" sz="2175" dirty="0">
                <a:solidFill>
                  <a:srgbClr val="3C4450"/>
                </a:solidFill>
                <a:latin typeface="Arial" pitchFamily="34" charset="0"/>
                <a:ea typeface="Arial" pitchFamily="34" charset="-122"/>
                <a:cs typeface="Arial" pitchFamily="34" charset="-120"/>
              </a:rPr>
              <a:t>UI + World Clock / Timer / Stopwatch</a:t>
            </a:r>
            <a:endParaRPr lang="en-US" sz="2175" dirty="0"/>
          </a:p>
        </p:txBody>
      </p:sp>
      <p:sp>
        <p:nvSpPr>
          <p:cNvPr id="13" name="Shape 11"/>
          <p:cNvSpPr/>
          <p:nvPr/>
        </p:nvSpPr>
        <p:spPr>
          <a:xfrm>
            <a:off x="952500" y="4620964"/>
            <a:ext cx="1990725" cy="1371600"/>
          </a:xfrm>
          <a:prstGeom prst="roundRect">
            <a:avLst>
              <a:gd name="adj" fmla="val 11111"/>
            </a:avLst>
          </a:prstGeom>
          <a:solidFill>
            <a:srgbClr val="257D70"/>
          </a:solidFill>
          <a:ln/>
        </p:spPr>
      </p:sp>
      <p:sp>
        <p:nvSpPr>
          <p:cNvPr id="14" name="Text 12"/>
          <p:cNvSpPr/>
          <p:nvPr/>
        </p:nvSpPr>
        <p:spPr>
          <a:xfrm>
            <a:off x="1143000" y="4849564"/>
            <a:ext cx="177069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alpha val="80000"/>
                  </a:srgbClr>
                </a:solidFill>
                <a:latin typeface="Arial" pitchFamily="34" charset="0"/>
                <a:ea typeface="Arial" pitchFamily="34" charset="-122"/>
                <a:cs typeface="Arial" pitchFamily="34" charset="-120"/>
              </a:rPr>
              <a:t>NGÀY 1</a:t>
            </a:r>
            <a:endParaRPr lang="en-US" sz="1800" dirty="0"/>
          </a:p>
        </p:txBody>
      </p:sp>
      <p:sp>
        <p:nvSpPr>
          <p:cNvPr id="15" name="Text 13"/>
          <p:cNvSpPr/>
          <p:nvPr/>
        </p:nvSpPr>
        <p:spPr>
          <a:xfrm>
            <a:off x="1143000" y="5173414"/>
            <a:ext cx="1685925"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Dựng khung app</a:t>
            </a:r>
            <a:endParaRPr lang="en-US" sz="1950" dirty="0"/>
          </a:p>
        </p:txBody>
      </p:sp>
      <p:sp>
        <p:nvSpPr>
          <p:cNvPr id="16" name="Shape 14"/>
          <p:cNvSpPr/>
          <p:nvPr/>
        </p:nvSpPr>
        <p:spPr>
          <a:xfrm>
            <a:off x="3057525" y="4620964"/>
            <a:ext cx="3981450" cy="1371600"/>
          </a:xfrm>
          <a:prstGeom prst="roundRect">
            <a:avLst>
              <a:gd name="adj" fmla="val 11111"/>
            </a:avLst>
          </a:prstGeom>
          <a:solidFill>
            <a:srgbClr val="2E8D7F"/>
          </a:solidFill>
          <a:ln/>
        </p:spPr>
      </p:sp>
      <p:sp>
        <p:nvSpPr>
          <p:cNvPr id="17" name="Text 15"/>
          <p:cNvSpPr/>
          <p:nvPr/>
        </p:nvSpPr>
        <p:spPr>
          <a:xfrm>
            <a:off x="3248025" y="4849564"/>
            <a:ext cx="396049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alpha val="80000"/>
                  </a:srgbClr>
                </a:solidFill>
                <a:latin typeface="Arial" pitchFamily="34" charset="0"/>
                <a:ea typeface="Arial" pitchFamily="34" charset="-122"/>
                <a:cs typeface="Arial" pitchFamily="34" charset="-120"/>
              </a:rPr>
              <a:t>NGÀY 2 – 3</a:t>
            </a:r>
            <a:endParaRPr lang="en-US" sz="1800" dirty="0"/>
          </a:p>
        </p:txBody>
      </p:sp>
      <p:sp>
        <p:nvSpPr>
          <p:cNvPr id="18" name="Text 16"/>
          <p:cNvSpPr/>
          <p:nvPr/>
        </p:nvSpPr>
        <p:spPr>
          <a:xfrm>
            <a:off x="3248025" y="5173414"/>
            <a:ext cx="396049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CRUD + Database</a:t>
            </a:r>
            <a:endParaRPr lang="en-US" sz="1950" dirty="0"/>
          </a:p>
        </p:txBody>
      </p:sp>
      <p:sp>
        <p:nvSpPr>
          <p:cNvPr id="19" name="Shape 17"/>
          <p:cNvSpPr/>
          <p:nvPr/>
        </p:nvSpPr>
        <p:spPr>
          <a:xfrm>
            <a:off x="7153275" y="4620964"/>
            <a:ext cx="3981450" cy="1371600"/>
          </a:xfrm>
          <a:prstGeom prst="roundRect">
            <a:avLst>
              <a:gd name="adj" fmla="val 11111"/>
            </a:avLst>
          </a:prstGeom>
          <a:solidFill>
            <a:srgbClr val="3AA08F"/>
          </a:solidFill>
          <a:ln/>
        </p:spPr>
      </p:sp>
      <p:sp>
        <p:nvSpPr>
          <p:cNvPr id="20" name="Text 18"/>
          <p:cNvSpPr/>
          <p:nvPr/>
        </p:nvSpPr>
        <p:spPr>
          <a:xfrm>
            <a:off x="7343775" y="4849564"/>
            <a:ext cx="396049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alpha val="80000"/>
                  </a:srgbClr>
                </a:solidFill>
                <a:latin typeface="Arial" pitchFamily="34" charset="0"/>
                <a:ea typeface="Arial" pitchFamily="34" charset="-122"/>
                <a:cs typeface="Arial" pitchFamily="34" charset="-120"/>
              </a:rPr>
              <a:t>NGÀY 4 – 5</a:t>
            </a:r>
            <a:endParaRPr lang="en-US" sz="1800" dirty="0"/>
          </a:p>
        </p:txBody>
      </p:sp>
      <p:sp>
        <p:nvSpPr>
          <p:cNvPr id="21" name="Text 19"/>
          <p:cNvSpPr/>
          <p:nvPr/>
        </p:nvSpPr>
        <p:spPr>
          <a:xfrm>
            <a:off x="7343775" y="5173414"/>
            <a:ext cx="396049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Scheduling + Music</a:t>
            </a:r>
            <a:endParaRPr lang="en-US" sz="1950" dirty="0"/>
          </a:p>
        </p:txBody>
      </p:sp>
      <p:sp>
        <p:nvSpPr>
          <p:cNvPr id="22" name="Shape 20"/>
          <p:cNvSpPr/>
          <p:nvPr/>
        </p:nvSpPr>
        <p:spPr>
          <a:xfrm>
            <a:off x="11249025" y="4620964"/>
            <a:ext cx="1990725" cy="1371600"/>
          </a:xfrm>
          <a:prstGeom prst="roundRect">
            <a:avLst>
              <a:gd name="adj" fmla="val 11111"/>
            </a:avLst>
          </a:prstGeom>
          <a:solidFill>
            <a:srgbClr val="C85C42"/>
          </a:solidFill>
          <a:ln/>
        </p:spPr>
      </p:sp>
      <p:sp>
        <p:nvSpPr>
          <p:cNvPr id="23" name="Text 21"/>
          <p:cNvSpPr/>
          <p:nvPr/>
        </p:nvSpPr>
        <p:spPr>
          <a:xfrm>
            <a:off x="11439525" y="4849564"/>
            <a:ext cx="177069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alpha val="80000"/>
                  </a:srgbClr>
                </a:solidFill>
                <a:latin typeface="Arial" pitchFamily="34" charset="0"/>
                <a:ea typeface="Arial" pitchFamily="34" charset="-122"/>
                <a:cs typeface="Arial" pitchFamily="34" charset="-120"/>
              </a:rPr>
              <a:t>NGÀY 6</a:t>
            </a:r>
            <a:endParaRPr lang="en-US" sz="1800" dirty="0"/>
          </a:p>
        </p:txBody>
      </p:sp>
      <p:sp>
        <p:nvSpPr>
          <p:cNvPr id="24" name="Text 22"/>
          <p:cNvSpPr/>
          <p:nvPr/>
        </p:nvSpPr>
        <p:spPr>
          <a:xfrm>
            <a:off x="11439525" y="5173414"/>
            <a:ext cx="1770698"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Merge</a:t>
            </a:r>
            <a:endParaRPr lang="en-US" sz="1950" dirty="0"/>
          </a:p>
        </p:txBody>
      </p:sp>
      <p:sp>
        <p:nvSpPr>
          <p:cNvPr id="25" name="Shape 23"/>
          <p:cNvSpPr/>
          <p:nvPr/>
        </p:nvSpPr>
        <p:spPr>
          <a:xfrm>
            <a:off x="13354050" y="4620964"/>
            <a:ext cx="3981450" cy="1371600"/>
          </a:xfrm>
          <a:prstGeom prst="roundRect">
            <a:avLst>
              <a:gd name="adj" fmla="val 11111"/>
            </a:avLst>
          </a:prstGeom>
          <a:solidFill>
            <a:srgbClr val="08131F"/>
          </a:solidFill>
          <a:ln/>
        </p:spPr>
      </p:sp>
      <p:sp>
        <p:nvSpPr>
          <p:cNvPr id="26" name="Text 24"/>
          <p:cNvSpPr/>
          <p:nvPr/>
        </p:nvSpPr>
        <p:spPr>
          <a:xfrm>
            <a:off x="13544550" y="4849564"/>
            <a:ext cx="396049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C9B9F8">
                    <a:alpha val="80000"/>
                  </a:srgbClr>
                </a:solidFill>
                <a:latin typeface="Arial" pitchFamily="34" charset="0"/>
                <a:ea typeface="Arial" pitchFamily="34" charset="-122"/>
                <a:cs typeface="Arial" pitchFamily="34" charset="-120"/>
              </a:rPr>
              <a:t>NGÀY 7 – 8</a:t>
            </a:r>
            <a:endParaRPr lang="en-US" sz="1800" dirty="0"/>
          </a:p>
        </p:txBody>
      </p:sp>
      <p:sp>
        <p:nvSpPr>
          <p:cNvPr id="27" name="Text 25"/>
          <p:cNvSpPr/>
          <p:nvPr/>
        </p:nvSpPr>
        <p:spPr>
          <a:xfrm>
            <a:off x="13544550" y="5173414"/>
            <a:ext cx="396049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F6F7FB"/>
                </a:solidFill>
                <a:latin typeface="Arial" pitchFamily="34" charset="0"/>
                <a:ea typeface="Arial" pitchFamily="34" charset="-122"/>
                <a:cs typeface="Arial" pitchFamily="34" charset="-120"/>
              </a:rPr>
              <a:t>Test + Polish</a:t>
            </a:r>
            <a:endParaRPr lang="en-US" sz="1950" dirty="0"/>
          </a:p>
        </p:txBody>
      </p:sp>
      <p:sp>
        <p:nvSpPr>
          <p:cNvPr id="28" name="Text 26"/>
          <p:cNvSpPr/>
          <p:nvPr/>
        </p:nvSpPr>
        <p:spPr>
          <a:xfrm>
            <a:off x="952500" y="6240214"/>
            <a:ext cx="18021300" cy="352425"/>
          </a:xfrm>
          <a:prstGeom prst="rect">
            <a:avLst/>
          </a:prstGeom>
          <a:noFill/>
          <a:ln/>
        </p:spPr>
        <p:txBody>
          <a:bodyPr wrap="square" lIns="25400" tIns="25400" rIns="25400" bIns="25400" rtlCol="0" anchor="t">
            <a:normAutofit/>
          </a:bodyPr>
          <a:lstStyle/>
          <a:p>
            <a:pPr algn="l" indent="0" marL="0">
              <a:buNone/>
            </a:pPr>
            <a:r>
              <a:rPr lang="en-US" sz="1950" dirty="0">
                <a:solidFill>
                  <a:srgbClr val="5A6472"/>
                </a:solidFill>
                <a:latin typeface="Arial" pitchFamily="34" charset="0"/>
                <a:ea typeface="Arial" pitchFamily="34" charset="-122"/>
                <a:cs typeface="Arial" pitchFamily="34" charset="-120"/>
              </a:rPr>
              <a:t>Làm việc song song theo mảng, gộp nhánh ngày 6 rồi cùng test trên thiết bị thật.</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33375"/>
          </a:xfrm>
          <a:prstGeom prst="rect">
            <a:avLst/>
          </a:prstGeom>
          <a:noFill/>
          <a:ln/>
        </p:spPr>
        <p:txBody>
          <a:bodyPr wrap="square" lIns="25400" tIns="25400" rIns="25400" bIns="25400" rtlCol="0" anchor="t">
            <a:normAutofit/>
          </a:bodyPr>
          <a:lstStyle/>
          <a:p>
            <a:pPr algn="l" indent="0" marL="0">
              <a:buNone/>
            </a:pPr>
            <a:r>
              <a:rPr lang="en-US" sz="1950" b="1" spc="225" kern="0" dirty="0">
                <a:solidFill>
                  <a:srgbClr val="257D70"/>
                </a:solidFill>
                <a:latin typeface="Arial" pitchFamily="34" charset="0"/>
                <a:ea typeface="Arial" pitchFamily="34" charset="-122"/>
                <a:cs typeface="Arial" pitchFamily="34" charset="-120"/>
              </a:rPr>
              <a:t>14 · KẾT LUẬN</a:t>
            </a:r>
            <a:endParaRPr lang="en-US" sz="1950" dirty="0"/>
          </a:p>
        </p:txBody>
      </p:sp>
      <p:sp>
        <p:nvSpPr>
          <p:cNvPr id="3" name="Text 1"/>
          <p:cNvSpPr/>
          <p:nvPr/>
        </p:nvSpPr>
        <p:spPr>
          <a:xfrm>
            <a:off x="952500" y="1266825"/>
            <a:ext cx="18021300" cy="666750"/>
          </a:xfrm>
          <a:prstGeom prst="rect">
            <a:avLst/>
          </a:prstGeom>
          <a:noFill/>
          <a:ln/>
        </p:spPr>
        <p:txBody>
          <a:bodyPr wrap="square" lIns="25400" tIns="25400" rIns="25400" bIns="25400" rtlCol="0" anchor="t">
            <a:normAutofit/>
          </a:bodyPr>
          <a:lstStyle/>
          <a:p>
            <a:pPr algn="l" indent="0" marL="0">
              <a:lnSpc>
                <a:spcPct val="77647"/>
              </a:lnSpc>
              <a:buNone/>
            </a:pPr>
            <a:r>
              <a:rPr lang="en-US" sz="4500" b="1" dirty="0">
                <a:solidFill>
                  <a:srgbClr val="171A21"/>
                </a:solidFill>
                <a:latin typeface="Arial" pitchFamily="34" charset="0"/>
                <a:ea typeface="Arial" pitchFamily="34" charset="-122"/>
                <a:cs typeface="Arial" pitchFamily="34" charset="-120"/>
              </a:rPr>
              <a:t>Demo &amp; Kết luận</a:t>
            </a:r>
            <a:endParaRPr lang="en-US" sz="4500" dirty="0"/>
          </a:p>
        </p:txBody>
      </p:sp>
      <p:sp>
        <p:nvSpPr>
          <p:cNvPr id="4" name="Text 2"/>
          <p:cNvSpPr/>
          <p:nvPr/>
        </p:nvSpPr>
        <p:spPr>
          <a:xfrm>
            <a:off x="952500" y="2352675"/>
            <a:ext cx="9755698"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257D70"/>
                </a:solidFill>
                <a:latin typeface="Arial" pitchFamily="34" charset="0"/>
                <a:ea typeface="Arial" pitchFamily="34" charset="-122"/>
                <a:cs typeface="Arial" pitchFamily="34" charset="-120"/>
              </a:rPr>
              <a:t>Đã hoàn thành</a:t>
            </a:r>
            <a:endParaRPr lang="en-US" sz="2250" dirty="0"/>
          </a:p>
        </p:txBody>
      </p:sp>
      <p:sp>
        <p:nvSpPr>
          <p:cNvPr id="5" name="Shape 3"/>
          <p:cNvSpPr/>
          <p:nvPr/>
        </p:nvSpPr>
        <p:spPr>
          <a:xfrm>
            <a:off x="952500" y="2886075"/>
            <a:ext cx="419100" cy="419100"/>
          </a:xfrm>
          <a:prstGeom prst="ellipse">
            <a:avLst/>
          </a:prstGeom>
          <a:solidFill>
            <a:srgbClr val="257D70"/>
          </a:solidFill>
          <a:ln/>
        </p:spPr>
      </p:sp>
      <p:sp>
        <p:nvSpPr>
          <p:cNvPr id="6" name="Text 4"/>
          <p:cNvSpPr/>
          <p:nvPr/>
        </p:nvSpPr>
        <p:spPr>
          <a:xfrm>
            <a:off x="914400" y="2886075"/>
            <a:ext cx="495300" cy="4572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t>
            </a:r>
            <a:endParaRPr lang="en-US" sz="1950" dirty="0"/>
          </a:p>
        </p:txBody>
      </p:sp>
      <p:sp>
        <p:nvSpPr>
          <p:cNvPr id="7" name="Text 5"/>
          <p:cNvSpPr/>
          <p:nvPr/>
        </p:nvSpPr>
        <p:spPr>
          <a:xfrm>
            <a:off x="1543050" y="2928938"/>
            <a:ext cx="6240334" cy="371475"/>
          </a:xfrm>
          <a:prstGeom prst="rect">
            <a:avLst/>
          </a:prstGeom>
          <a:noFill/>
          <a:ln/>
        </p:spPr>
        <p:txBody>
          <a:bodyPr wrap="square" lIns="25400" tIns="25400" rIns="25400" bIns="25400" rtlCol="0" anchor="t">
            <a:normAutofit/>
          </a:bodyPr>
          <a:lstStyle/>
          <a:p>
            <a:pPr algn="l" indent="0" marL="0">
              <a:buNone/>
            </a:pPr>
            <a:r>
              <a:rPr lang="en-US" sz="2100" dirty="0">
                <a:solidFill>
                  <a:srgbClr val="171A21"/>
                </a:solidFill>
                <a:latin typeface="Arial" pitchFamily="34" charset="0"/>
                <a:ea typeface="Arial" pitchFamily="34" charset="-122"/>
                <a:cs typeface="Arial" pitchFamily="34" charset="-120"/>
              </a:rPr>
              <a:t>Đặt, sửa, xóa báo thức + banner Next Alarm</a:t>
            </a:r>
            <a:endParaRPr lang="en-US" sz="2100" dirty="0"/>
          </a:p>
        </p:txBody>
      </p:sp>
      <p:sp>
        <p:nvSpPr>
          <p:cNvPr id="8" name="Shape 6"/>
          <p:cNvSpPr/>
          <p:nvPr/>
        </p:nvSpPr>
        <p:spPr>
          <a:xfrm>
            <a:off x="952500" y="3514725"/>
            <a:ext cx="419100" cy="419100"/>
          </a:xfrm>
          <a:prstGeom prst="ellipse">
            <a:avLst/>
          </a:prstGeom>
          <a:solidFill>
            <a:srgbClr val="257D70"/>
          </a:solidFill>
          <a:ln/>
        </p:spPr>
      </p:sp>
      <p:sp>
        <p:nvSpPr>
          <p:cNvPr id="9" name="Text 7"/>
          <p:cNvSpPr/>
          <p:nvPr/>
        </p:nvSpPr>
        <p:spPr>
          <a:xfrm>
            <a:off x="914400" y="3514725"/>
            <a:ext cx="495300" cy="4572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1543050" y="3557588"/>
            <a:ext cx="6190402" cy="371475"/>
          </a:xfrm>
          <a:prstGeom prst="rect">
            <a:avLst/>
          </a:prstGeom>
          <a:noFill/>
          <a:ln/>
        </p:spPr>
        <p:txBody>
          <a:bodyPr wrap="square" lIns="25400" tIns="25400" rIns="25400" bIns="25400" rtlCol="0" anchor="t">
            <a:normAutofit/>
          </a:bodyPr>
          <a:lstStyle/>
          <a:p>
            <a:pPr algn="l" indent="0" marL="0">
              <a:buNone/>
            </a:pPr>
            <a:r>
              <a:rPr lang="en-US" sz="2100" dirty="0">
                <a:solidFill>
                  <a:srgbClr val="171A21"/>
                </a:solidFill>
                <a:latin typeface="Arial" pitchFamily="34" charset="0"/>
                <a:ea typeface="Arial" pitchFamily="34" charset="-122"/>
                <a:cs typeface="Arial" pitchFamily="34" charset="-120"/>
              </a:rPr>
              <a:t>Chuông reo đúng giờ kể cả khi app đã đóng</a:t>
            </a:r>
            <a:endParaRPr lang="en-US" sz="2100" dirty="0"/>
          </a:p>
        </p:txBody>
      </p:sp>
      <p:sp>
        <p:nvSpPr>
          <p:cNvPr id="11" name="Shape 9"/>
          <p:cNvSpPr/>
          <p:nvPr/>
        </p:nvSpPr>
        <p:spPr>
          <a:xfrm>
            <a:off x="952500" y="4143375"/>
            <a:ext cx="419100" cy="419100"/>
          </a:xfrm>
          <a:prstGeom prst="ellipse">
            <a:avLst/>
          </a:prstGeom>
          <a:solidFill>
            <a:srgbClr val="257D70"/>
          </a:solidFill>
          <a:ln/>
        </p:spPr>
      </p:sp>
      <p:sp>
        <p:nvSpPr>
          <p:cNvPr id="12" name="Text 10"/>
          <p:cNvSpPr/>
          <p:nvPr/>
        </p:nvSpPr>
        <p:spPr>
          <a:xfrm>
            <a:off x="914400" y="4143375"/>
            <a:ext cx="495300" cy="4572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1543050" y="4186238"/>
            <a:ext cx="7107838" cy="371475"/>
          </a:xfrm>
          <a:prstGeom prst="rect">
            <a:avLst/>
          </a:prstGeom>
          <a:noFill/>
          <a:ln/>
        </p:spPr>
        <p:txBody>
          <a:bodyPr wrap="square" lIns="25400" tIns="25400" rIns="25400" bIns="25400" rtlCol="0" anchor="t">
            <a:normAutofit/>
          </a:bodyPr>
          <a:lstStyle/>
          <a:p>
            <a:pPr algn="l" indent="0" marL="0">
              <a:buNone/>
            </a:pPr>
            <a:r>
              <a:rPr lang="en-US" sz="2100" dirty="0">
                <a:solidFill>
                  <a:srgbClr val="171A21"/>
                </a:solidFill>
                <a:latin typeface="Arial" pitchFamily="34" charset="0"/>
                <a:ea typeface="Arial" pitchFamily="34" charset="-122"/>
                <a:cs typeface="Arial" pitchFamily="34" charset="-120"/>
              </a:rPr>
              <a:t>5 nhạc có sẵn + bài hát trong máy, âm lượng riêng</a:t>
            </a:r>
            <a:endParaRPr lang="en-US" sz="2100" dirty="0"/>
          </a:p>
        </p:txBody>
      </p:sp>
      <p:sp>
        <p:nvSpPr>
          <p:cNvPr id="14" name="Shape 12"/>
          <p:cNvSpPr/>
          <p:nvPr/>
        </p:nvSpPr>
        <p:spPr>
          <a:xfrm>
            <a:off x="952500" y="4772025"/>
            <a:ext cx="419100" cy="419100"/>
          </a:xfrm>
          <a:prstGeom prst="ellipse">
            <a:avLst/>
          </a:prstGeom>
          <a:solidFill>
            <a:srgbClr val="257D70"/>
          </a:solidFill>
          <a:ln/>
        </p:spPr>
      </p:sp>
      <p:sp>
        <p:nvSpPr>
          <p:cNvPr id="15" name="Text 13"/>
          <p:cNvSpPr/>
          <p:nvPr/>
        </p:nvSpPr>
        <p:spPr>
          <a:xfrm>
            <a:off x="914400" y="4772025"/>
            <a:ext cx="495300" cy="4572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t>
            </a:r>
            <a:endParaRPr lang="en-US" sz="1950" dirty="0"/>
          </a:p>
        </p:txBody>
      </p:sp>
      <p:sp>
        <p:nvSpPr>
          <p:cNvPr id="16" name="Text 14"/>
          <p:cNvSpPr/>
          <p:nvPr/>
        </p:nvSpPr>
        <p:spPr>
          <a:xfrm>
            <a:off x="1543050" y="4814888"/>
            <a:ext cx="6873731" cy="371475"/>
          </a:xfrm>
          <a:prstGeom prst="rect">
            <a:avLst/>
          </a:prstGeom>
          <a:noFill/>
          <a:ln/>
        </p:spPr>
        <p:txBody>
          <a:bodyPr wrap="square" lIns="25400" tIns="25400" rIns="25400" bIns="25400" rtlCol="0" anchor="t">
            <a:normAutofit/>
          </a:bodyPr>
          <a:lstStyle/>
          <a:p>
            <a:pPr algn="l" indent="0" marL="0">
              <a:buNone/>
            </a:pPr>
            <a:r>
              <a:rPr lang="en-US" sz="2100" dirty="0">
                <a:solidFill>
                  <a:srgbClr val="171A21"/>
                </a:solidFill>
                <a:latin typeface="Arial" pitchFamily="34" charset="0"/>
                <a:ea typeface="Arial" pitchFamily="34" charset="-122"/>
                <a:cs typeface="Arial" pitchFamily="34" charset="-120"/>
              </a:rPr>
              <a:t>Math Challenge + full-screen trên màn hình khóa</a:t>
            </a:r>
            <a:endParaRPr lang="en-US" sz="2100" dirty="0"/>
          </a:p>
        </p:txBody>
      </p:sp>
      <p:sp>
        <p:nvSpPr>
          <p:cNvPr id="17" name="Shape 15"/>
          <p:cNvSpPr/>
          <p:nvPr/>
        </p:nvSpPr>
        <p:spPr>
          <a:xfrm>
            <a:off x="952500" y="5400675"/>
            <a:ext cx="419100" cy="419100"/>
          </a:xfrm>
          <a:prstGeom prst="ellipse">
            <a:avLst/>
          </a:prstGeom>
          <a:solidFill>
            <a:srgbClr val="257D70"/>
          </a:solidFill>
          <a:ln/>
        </p:spPr>
      </p:sp>
      <p:sp>
        <p:nvSpPr>
          <p:cNvPr id="18" name="Text 16"/>
          <p:cNvSpPr/>
          <p:nvPr/>
        </p:nvSpPr>
        <p:spPr>
          <a:xfrm>
            <a:off x="914400" y="5400675"/>
            <a:ext cx="495300" cy="4572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t>
            </a:r>
            <a:endParaRPr lang="en-US" sz="1950" dirty="0"/>
          </a:p>
        </p:txBody>
      </p:sp>
      <p:sp>
        <p:nvSpPr>
          <p:cNvPr id="19" name="Text 17"/>
          <p:cNvSpPr/>
          <p:nvPr/>
        </p:nvSpPr>
        <p:spPr>
          <a:xfrm>
            <a:off x="1543050" y="5443538"/>
            <a:ext cx="7337033" cy="371475"/>
          </a:xfrm>
          <a:prstGeom prst="rect">
            <a:avLst/>
          </a:prstGeom>
          <a:noFill/>
          <a:ln/>
        </p:spPr>
        <p:txBody>
          <a:bodyPr wrap="square" lIns="25400" tIns="25400" rIns="25400" bIns="25400" rtlCol="0" anchor="t">
            <a:normAutofit/>
          </a:bodyPr>
          <a:lstStyle/>
          <a:p>
            <a:pPr algn="l" indent="0" marL="0">
              <a:buNone/>
            </a:pPr>
            <a:r>
              <a:rPr lang="en-US" sz="2100" dirty="0">
                <a:solidFill>
                  <a:srgbClr val="171A21"/>
                </a:solidFill>
                <a:latin typeface="Arial" pitchFamily="34" charset="0"/>
                <a:ea typeface="Arial" pitchFamily="34" charset="-122"/>
                <a:cs typeface="Arial" pitchFamily="34" charset="-120"/>
              </a:rPr>
              <a:t>Giờ thế giới · Hẹn giờ (nhớ timer gần nhất) · Bấm giờ</a:t>
            </a:r>
            <a:endParaRPr lang="en-US" sz="2100" dirty="0"/>
          </a:p>
        </p:txBody>
      </p:sp>
      <p:sp>
        <p:nvSpPr>
          <p:cNvPr id="20" name="Shape 18"/>
          <p:cNvSpPr/>
          <p:nvPr/>
        </p:nvSpPr>
        <p:spPr>
          <a:xfrm>
            <a:off x="952500" y="6029325"/>
            <a:ext cx="419100" cy="419100"/>
          </a:xfrm>
          <a:prstGeom prst="ellipse">
            <a:avLst/>
          </a:prstGeom>
          <a:solidFill>
            <a:srgbClr val="257D70"/>
          </a:solidFill>
          <a:ln/>
        </p:spPr>
      </p:sp>
      <p:sp>
        <p:nvSpPr>
          <p:cNvPr id="21" name="Text 19"/>
          <p:cNvSpPr/>
          <p:nvPr/>
        </p:nvSpPr>
        <p:spPr>
          <a:xfrm>
            <a:off x="914400" y="6029325"/>
            <a:ext cx="495300" cy="4572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t>
            </a:r>
            <a:endParaRPr lang="en-US" sz="1950" dirty="0"/>
          </a:p>
        </p:txBody>
      </p:sp>
      <p:sp>
        <p:nvSpPr>
          <p:cNvPr id="22" name="Text 20"/>
          <p:cNvSpPr/>
          <p:nvPr/>
        </p:nvSpPr>
        <p:spPr>
          <a:xfrm>
            <a:off x="1543050" y="6072188"/>
            <a:ext cx="4672310" cy="371475"/>
          </a:xfrm>
          <a:prstGeom prst="rect">
            <a:avLst/>
          </a:prstGeom>
          <a:noFill/>
          <a:ln/>
        </p:spPr>
        <p:txBody>
          <a:bodyPr wrap="square" lIns="25400" tIns="25400" rIns="25400" bIns="25400" rtlCol="0" anchor="t">
            <a:normAutofit/>
          </a:bodyPr>
          <a:lstStyle/>
          <a:p>
            <a:pPr algn="l" indent="0" marL="0">
              <a:buNone/>
            </a:pPr>
            <a:r>
              <a:rPr lang="en-US" sz="2100" dirty="0">
                <a:solidFill>
                  <a:srgbClr val="171A21"/>
                </a:solidFill>
                <a:latin typeface="Arial" pitchFamily="34" charset="0"/>
                <a:ea typeface="Arial" pitchFamily="34" charset="-122"/>
                <a:cs typeface="Arial" pitchFamily="34" charset="-120"/>
              </a:rPr>
              <a:t>Light + Dark mode theo hệ thống</a:t>
            </a:r>
            <a:endParaRPr lang="en-US" sz="2100" dirty="0"/>
          </a:p>
        </p:txBody>
      </p:sp>
      <p:sp>
        <p:nvSpPr>
          <p:cNvPr id="23" name="Shape 21"/>
          <p:cNvSpPr/>
          <p:nvPr/>
        </p:nvSpPr>
        <p:spPr>
          <a:xfrm>
            <a:off x="10240417" y="2352675"/>
            <a:ext cx="9525" cy="7172325"/>
          </a:xfrm>
          <a:prstGeom prst="rect">
            <a:avLst/>
          </a:prstGeom>
          <a:solidFill>
            <a:srgbClr val="DCE7E3"/>
          </a:solidFill>
          <a:ln/>
        </p:spPr>
      </p:sp>
      <p:sp>
        <p:nvSpPr>
          <p:cNvPr id="24" name="Text 22"/>
          <p:cNvSpPr/>
          <p:nvPr/>
        </p:nvSpPr>
        <p:spPr>
          <a:xfrm>
            <a:off x="10669042" y="2352675"/>
            <a:ext cx="7333104"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C85C42"/>
                </a:solidFill>
                <a:latin typeface="Arial" pitchFamily="34" charset="0"/>
                <a:ea typeface="Arial" pitchFamily="34" charset="-122"/>
                <a:cs typeface="Arial" pitchFamily="34" charset="-120"/>
              </a:rPr>
              <a:t>Hướng phát triển</a:t>
            </a:r>
            <a:endParaRPr lang="en-US" sz="2250" dirty="0"/>
          </a:p>
        </p:txBody>
      </p:sp>
      <p:sp>
        <p:nvSpPr>
          <p:cNvPr id="25" name="Shape 23"/>
          <p:cNvSpPr/>
          <p:nvPr/>
        </p:nvSpPr>
        <p:spPr>
          <a:xfrm>
            <a:off x="10669042" y="3000375"/>
            <a:ext cx="95250" cy="95250"/>
          </a:xfrm>
          <a:prstGeom prst="ellipse">
            <a:avLst/>
          </a:prstGeom>
          <a:solidFill>
            <a:srgbClr val="C85C42"/>
          </a:solidFill>
          <a:ln/>
        </p:spPr>
      </p:sp>
      <p:sp>
        <p:nvSpPr>
          <p:cNvPr id="26" name="Text 24"/>
          <p:cNvSpPr/>
          <p:nvPr/>
        </p:nvSpPr>
        <p:spPr>
          <a:xfrm>
            <a:off x="10935742" y="2886075"/>
            <a:ext cx="5101724" cy="42475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3C4450"/>
                </a:solidFill>
                <a:latin typeface="Arial" pitchFamily="34" charset="0"/>
                <a:ea typeface="Arial" pitchFamily="34" charset="-122"/>
                <a:cs typeface="Arial" pitchFamily="34" charset="-120"/>
              </a:rPr>
              <a:t>Bedtime reminder — nhắc giờ đi ngủ</a:t>
            </a:r>
            <a:endParaRPr lang="en-US" sz="2100" dirty="0"/>
          </a:p>
        </p:txBody>
      </p:sp>
      <p:sp>
        <p:nvSpPr>
          <p:cNvPr id="27" name="Shape 25"/>
          <p:cNvSpPr/>
          <p:nvPr/>
        </p:nvSpPr>
        <p:spPr>
          <a:xfrm>
            <a:off x="10669042" y="3596580"/>
            <a:ext cx="95250" cy="95250"/>
          </a:xfrm>
          <a:prstGeom prst="ellipse">
            <a:avLst/>
          </a:prstGeom>
          <a:solidFill>
            <a:srgbClr val="C85C42"/>
          </a:solidFill>
          <a:ln/>
        </p:spPr>
      </p:sp>
      <p:sp>
        <p:nvSpPr>
          <p:cNvPr id="28" name="Text 26"/>
          <p:cNvSpPr/>
          <p:nvPr/>
        </p:nvSpPr>
        <p:spPr>
          <a:xfrm>
            <a:off x="10935742" y="3482280"/>
            <a:ext cx="4942761" cy="42475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3C4450"/>
                </a:solidFill>
                <a:latin typeface="Arial" pitchFamily="34" charset="0"/>
                <a:ea typeface="Arial" pitchFamily="34" charset="-122"/>
                <a:cs typeface="Arial" pitchFamily="34" charset="-120"/>
              </a:rPr>
              <a:t>Sleep tracking — theo dõi giấc ngủ</a:t>
            </a:r>
            <a:endParaRPr lang="en-US" sz="2100" dirty="0"/>
          </a:p>
        </p:txBody>
      </p:sp>
      <p:sp>
        <p:nvSpPr>
          <p:cNvPr id="29" name="Shape 27"/>
          <p:cNvSpPr/>
          <p:nvPr/>
        </p:nvSpPr>
        <p:spPr>
          <a:xfrm>
            <a:off x="10669042" y="4192786"/>
            <a:ext cx="95250" cy="95250"/>
          </a:xfrm>
          <a:prstGeom prst="ellipse">
            <a:avLst/>
          </a:prstGeom>
          <a:solidFill>
            <a:srgbClr val="C85C42"/>
          </a:solidFill>
          <a:ln/>
        </p:spPr>
      </p:sp>
      <p:sp>
        <p:nvSpPr>
          <p:cNvPr id="30" name="Text 28"/>
          <p:cNvSpPr/>
          <p:nvPr/>
        </p:nvSpPr>
        <p:spPr>
          <a:xfrm>
            <a:off x="10935742" y="4078486"/>
            <a:ext cx="5228600" cy="42475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3C4450"/>
                </a:solidFill>
                <a:latin typeface="Arial" pitchFamily="34" charset="0"/>
                <a:ea typeface="Arial" pitchFamily="34" charset="-122"/>
                <a:cs typeface="Arial" pitchFamily="34" charset="-120"/>
              </a:rPr>
              <a:t>Widget báo thức trên màn hình chính</a:t>
            </a:r>
            <a:endParaRPr lang="en-US" sz="2100" dirty="0"/>
          </a:p>
        </p:txBody>
      </p:sp>
      <p:sp>
        <p:nvSpPr>
          <p:cNvPr id="31" name="Text 29"/>
          <p:cNvSpPr/>
          <p:nvPr/>
        </p:nvSpPr>
        <p:spPr>
          <a:xfrm>
            <a:off x="10669042" y="4922341"/>
            <a:ext cx="7333104"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257D70"/>
                </a:solidFill>
                <a:latin typeface="Arial" pitchFamily="34" charset="0"/>
                <a:ea typeface="Arial" pitchFamily="34" charset="-122"/>
                <a:cs typeface="Arial" pitchFamily="34" charset="-120"/>
              </a:rPr>
              <a:t>Demo trực tiếp</a:t>
            </a:r>
            <a:endParaRPr lang="en-US" sz="2250" dirty="0"/>
          </a:p>
        </p:txBody>
      </p:sp>
      <p:sp>
        <p:nvSpPr>
          <p:cNvPr id="32" name="Text 30"/>
          <p:cNvSpPr/>
          <p:nvPr/>
        </p:nvSpPr>
        <p:spPr>
          <a:xfrm>
            <a:off x="10669042" y="5455741"/>
            <a:ext cx="6866452" cy="83820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3C4450"/>
                </a:solidFill>
                <a:latin typeface="Arial" pitchFamily="34" charset="0"/>
                <a:ea typeface="Arial" pitchFamily="34" charset="-122"/>
                <a:cs typeface="Arial" pitchFamily="34" charset="-120"/>
              </a:rPr>
              <a:t>Trên thiết bị thật — đặt báo thức, khóa máy và chờ chuông reo.</a:t>
            </a:r>
            <a:endParaRPr lang="en-US" sz="2100" dirty="0"/>
          </a:p>
        </p:txBody>
      </p:sp>
      <p:sp>
        <p:nvSpPr>
          <p:cNvPr id="33" name="Text 31"/>
          <p:cNvSpPr/>
          <p:nvPr/>
        </p:nvSpPr>
        <p:spPr>
          <a:xfrm>
            <a:off x="10669042" y="6655891"/>
            <a:ext cx="7333104"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171A21"/>
                </a:solidFill>
                <a:latin typeface="Arial" pitchFamily="34" charset="0"/>
                <a:ea typeface="Arial" pitchFamily="34" charset="-122"/>
                <a:cs typeface="Arial" pitchFamily="34" charset="-120"/>
              </a:rPr>
              <a:t>Cảm ơn thầy cô và các bạn đã lắng nghe!</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2026-07-29T15:46:00Z</dcterms:created>
  <dcterms:modified xsi:type="dcterms:W3CDTF">2026-07-29T15:46:00Z</dcterms:modified>
</cp:coreProperties>
</file>